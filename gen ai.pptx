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libri (MS) Bold" charset="1" panose="020F0702030404030204"/>
      <p:regular r:id="rId20"/>
    </p:embeddedFont>
    <p:embeddedFont>
      <p:font typeface="Calibri (MS)" charset="1" panose="020F0502020204030204"/>
      <p:regular r:id="rId21"/>
    </p:embeddedFont>
    <p:embeddedFont>
      <p:font typeface="Calibri (MS) Italics" charset="1" panose="020F05020202040A0204"/>
      <p:regular r:id="rId22"/>
    </p:embeddedFont>
    <p:embeddedFont>
      <p:font typeface="Consolas" charset="1" panose="020B0609020204030204"/>
      <p:regular r:id="rId23"/>
    </p:embeddedFont>
    <p:embeddedFont>
      <p:font typeface="Consolas Bold" charset="1" panose="020B070902020403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ECDC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874503" y="-927097"/>
            <a:ext cx="8255003" cy="8255003"/>
            <a:chOff x="0" y="0"/>
            <a:chExt cx="11006671" cy="11006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1C2D55">
                <a:alpha val="48627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06709" cy="11006582"/>
            </a:xfrm>
            <a:custGeom>
              <a:avLst/>
              <a:gdLst/>
              <a:ahLst/>
              <a:cxnLst/>
              <a:rect r="r" b="b" t="t" l="l"/>
              <a:pathLst>
                <a:path h="11006582" w="11006709">
                  <a:moveTo>
                    <a:pt x="0" y="5503291"/>
                  </a:moveTo>
                  <a:cubicBezTo>
                    <a:pt x="0" y="2463927"/>
                    <a:pt x="2463927" y="0"/>
                    <a:pt x="5503291" y="0"/>
                  </a:cubicBezTo>
                  <a:lnTo>
                    <a:pt x="5503291" y="16891"/>
                  </a:lnTo>
                  <a:lnTo>
                    <a:pt x="5503291" y="0"/>
                  </a:lnTo>
                  <a:cubicBezTo>
                    <a:pt x="8542782" y="0"/>
                    <a:pt x="11006709" y="2463927"/>
                    <a:pt x="11006709" y="5503291"/>
                  </a:cubicBezTo>
                  <a:lnTo>
                    <a:pt x="10989818" y="5503291"/>
                  </a:lnTo>
                  <a:lnTo>
                    <a:pt x="11006709" y="5503291"/>
                  </a:lnTo>
                  <a:cubicBezTo>
                    <a:pt x="11006709" y="8542655"/>
                    <a:pt x="8542782" y="11006582"/>
                    <a:pt x="5503418" y="11006582"/>
                  </a:cubicBezTo>
                  <a:lnTo>
                    <a:pt x="5503418" y="10989690"/>
                  </a:lnTo>
                  <a:lnTo>
                    <a:pt x="5503418" y="11006582"/>
                  </a:lnTo>
                  <a:cubicBezTo>
                    <a:pt x="2463927" y="11006709"/>
                    <a:pt x="0" y="8542782"/>
                    <a:pt x="0" y="5503291"/>
                  </a:cubicBezTo>
                  <a:lnTo>
                    <a:pt x="16891" y="5503291"/>
                  </a:lnTo>
                  <a:lnTo>
                    <a:pt x="33909" y="5503291"/>
                  </a:lnTo>
                  <a:lnTo>
                    <a:pt x="16891" y="5503291"/>
                  </a:lnTo>
                  <a:lnTo>
                    <a:pt x="0" y="5503291"/>
                  </a:lnTo>
                  <a:moveTo>
                    <a:pt x="33909" y="5503291"/>
                  </a:moveTo>
                  <a:cubicBezTo>
                    <a:pt x="33909" y="5512689"/>
                    <a:pt x="26289" y="5520182"/>
                    <a:pt x="17018" y="5520182"/>
                  </a:cubicBezTo>
                  <a:cubicBezTo>
                    <a:pt x="7747" y="5520182"/>
                    <a:pt x="0" y="5512689"/>
                    <a:pt x="0" y="5503291"/>
                  </a:cubicBezTo>
                  <a:cubicBezTo>
                    <a:pt x="0" y="5493893"/>
                    <a:pt x="7620" y="5486400"/>
                    <a:pt x="16891" y="5486400"/>
                  </a:cubicBezTo>
                  <a:cubicBezTo>
                    <a:pt x="26162" y="5486400"/>
                    <a:pt x="33782" y="5494020"/>
                    <a:pt x="33782" y="5503291"/>
                  </a:cubicBezTo>
                  <a:cubicBezTo>
                    <a:pt x="33909" y="8523986"/>
                    <a:pt x="2482596" y="10972800"/>
                    <a:pt x="5503291" y="10972800"/>
                  </a:cubicBezTo>
                  <a:cubicBezTo>
                    <a:pt x="8523986" y="10972800"/>
                    <a:pt x="10972800" y="8523986"/>
                    <a:pt x="10972800" y="5503291"/>
                  </a:cubicBezTo>
                  <a:cubicBezTo>
                    <a:pt x="10972800" y="2482596"/>
                    <a:pt x="8523986" y="33909"/>
                    <a:pt x="5503291" y="33909"/>
                  </a:cubicBezTo>
                  <a:lnTo>
                    <a:pt x="5503291" y="16891"/>
                  </a:lnTo>
                  <a:lnTo>
                    <a:pt x="5503291" y="33909"/>
                  </a:lnTo>
                  <a:cubicBezTo>
                    <a:pt x="2482596" y="33909"/>
                    <a:pt x="33909" y="2482596"/>
                    <a:pt x="33909" y="5503291"/>
                  </a:cubicBezTo>
                  <a:close/>
                </a:path>
              </a:pathLst>
            </a:custGeom>
            <a:solidFill>
              <a:srgbClr val="1C2D55">
                <a:alpha val="48627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154663" y="4559303"/>
            <a:ext cx="5511803" cy="5511803"/>
            <a:chOff x="0" y="0"/>
            <a:chExt cx="7349071" cy="73490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12234A">
                <a:alpha val="63922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49109" cy="7348982"/>
            </a:xfrm>
            <a:custGeom>
              <a:avLst/>
              <a:gdLst/>
              <a:ahLst/>
              <a:cxnLst/>
              <a:rect r="r" b="b" t="t" l="l"/>
              <a:pathLst>
                <a:path h="7348982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lnTo>
                    <a:pt x="3674491" y="16891"/>
                  </a:lnTo>
                  <a:lnTo>
                    <a:pt x="3674491" y="0"/>
                  </a:lnTo>
                  <a:cubicBezTo>
                    <a:pt x="5703951" y="0"/>
                    <a:pt x="7349109" y="1645158"/>
                    <a:pt x="7349109" y="3674491"/>
                  </a:cubicBezTo>
                  <a:cubicBezTo>
                    <a:pt x="7349109" y="5703824"/>
                    <a:pt x="5703951" y="7348982"/>
                    <a:pt x="3674618" y="7348982"/>
                  </a:cubicBezTo>
                  <a:lnTo>
                    <a:pt x="3674618" y="7332090"/>
                  </a:lnTo>
                  <a:lnTo>
                    <a:pt x="3674618" y="7348982"/>
                  </a:lnTo>
                  <a:cubicBezTo>
                    <a:pt x="1645158" y="7349109"/>
                    <a:pt x="0" y="5703951"/>
                    <a:pt x="0" y="3674491"/>
                  </a:cubicBezTo>
                  <a:lnTo>
                    <a:pt x="16891" y="3674491"/>
                  </a:lnTo>
                  <a:lnTo>
                    <a:pt x="31115" y="3683635"/>
                  </a:lnTo>
                  <a:cubicBezTo>
                    <a:pt x="27051" y="3689985"/>
                    <a:pt x="19304" y="3692906"/>
                    <a:pt x="12065" y="3690747"/>
                  </a:cubicBezTo>
                  <a:cubicBezTo>
                    <a:pt x="4826" y="3688588"/>
                    <a:pt x="0" y="3682111"/>
                    <a:pt x="0" y="3674491"/>
                  </a:cubicBezTo>
                  <a:moveTo>
                    <a:pt x="33909" y="3674491"/>
                  </a:moveTo>
                  <a:lnTo>
                    <a:pt x="16891" y="3674491"/>
                  </a:lnTo>
                  <a:lnTo>
                    <a:pt x="2667" y="3665347"/>
                  </a:lnTo>
                  <a:cubicBezTo>
                    <a:pt x="6731" y="3658997"/>
                    <a:pt x="14478" y="3656076"/>
                    <a:pt x="21717" y="3658235"/>
                  </a:cubicBezTo>
                  <a:cubicBezTo>
                    <a:pt x="28956" y="3660394"/>
                    <a:pt x="33909" y="3666998"/>
                    <a:pt x="33909" y="3674491"/>
                  </a:cubicBezTo>
                  <a:cubicBezTo>
                    <a:pt x="33909" y="5685155"/>
                    <a:pt x="1663827" y="7315200"/>
                    <a:pt x="3674491" y="7315200"/>
                  </a:cubicBezTo>
                  <a:cubicBezTo>
                    <a:pt x="5685155" y="7315200"/>
                    <a:pt x="7315200" y="5685155"/>
                    <a:pt x="7315200" y="3674491"/>
                  </a:cubicBezTo>
                  <a:lnTo>
                    <a:pt x="7332091" y="3674491"/>
                  </a:lnTo>
                  <a:lnTo>
                    <a:pt x="7315200" y="3674491"/>
                  </a:lnTo>
                  <a:cubicBezTo>
                    <a:pt x="7315200" y="1663827"/>
                    <a:pt x="5685155" y="33909"/>
                    <a:pt x="3674491" y="33909"/>
                  </a:cubicBezTo>
                  <a:lnTo>
                    <a:pt x="3674491" y="16891"/>
                  </a:lnTo>
                  <a:lnTo>
                    <a:pt x="3674491" y="33909"/>
                  </a:lnTo>
                  <a:cubicBezTo>
                    <a:pt x="1663827" y="33909"/>
                    <a:pt x="33909" y="1663827"/>
                    <a:pt x="33909" y="3674491"/>
                  </a:cubicBezTo>
                  <a:close/>
                </a:path>
              </a:pathLst>
            </a:custGeom>
            <a:solidFill>
              <a:srgbClr val="12234A">
                <a:alpha val="63922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84583" y="1907543"/>
            <a:ext cx="3317243" cy="665483"/>
            <a:chOff x="0" y="0"/>
            <a:chExt cx="4422991" cy="8873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4389120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22902" cy="887224"/>
            </a:xfrm>
            <a:custGeom>
              <a:avLst/>
              <a:gdLst/>
              <a:ahLst/>
              <a:cxnLst/>
              <a:rect r="r" b="b" t="t" l="l"/>
              <a:pathLst>
                <a:path h="887224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870331"/>
                  </a:lnTo>
                  <a:cubicBezTo>
                    <a:pt x="4422902" y="879729"/>
                    <a:pt x="4415282" y="887222"/>
                    <a:pt x="440601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4406011" y="853440"/>
                  </a:lnTo>
                  <a:lnTo>
                    <a:pt x="4406011" y="870331"/>
                  </a:lnTo>
                  <a:lnTo>
                    <a:pt x="4389120" y="870331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ECDC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1920240"/>
            <a:ext cx="3291840" cy="640080"/>
            <a:chOff x="0" y="0"/>
            <a:chExt cx="438912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89120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3891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F1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PROJECT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16330" y="2834640"/>
            <a:ext cx="12435840" cy="2093863"/>
            <a:chOff x="0" y="0"/>
            <a:chExt cx="16581120" cy="279181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581120" cy="2791817"/>
            </a:xfrm>
            <a:custGeom>
              <a:avLst/>
              <a:gdLst/>
              <a:ahLst/>
              <a:cxnLst/>
              <a:rect r="r" b="b" t="t" l="l"/>
              <a:pathLst>
                <a:path h="2791817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2791817"/>
                  </a:lnTo>
                  <a:lnTo>
                    <a:pt x="0" y="27918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687" r="0" b="-6376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09550"/>
              <a:ext cx="16581120" cy="3001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SHOPMATE </a:t>
              </a:r>
              <a:r>
                <a:rPr lang="en-US" sz="10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280" y="5016503"/>
            <a:ext cx="12435840" cy="1005840"/>
            <a:chOff x="0" y="0"/>
            <a:chExt cx="1658112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58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905" r="0" b="-19090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658112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4ECD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Intelligent Retail Recommendation System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84583" y="6022343"/>
            <a:ext cx="2219963" cy="116843"/>
            <a:chOff x="0" y="0"/>
            <a:chExt cx="2959951" cy="1557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2926080" cy="121920"/>
            </a:xfrm>
            <a:custGeom>
              <a:avLst/>
              <a:gdLst/>
              <a:ahLst/>
              <a:cxnLst/>
              <a:rect r="r" b="b" t="t" l="l"/>
              <a:pathLst>
                <a:path h="1219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7B73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59862" cy="155704"/>
            </a:xfrm>
            <a:custGeom>
              <a:avLst/>
              <a:gdLst/>
              <a:ahLst/>
              <a:cxnLst/>
              <a:rect r="r" b="b" t="t" l="l"/>
              <a:pathLst>
                <a:path h="155704" w="2959862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138811"/>
                  </a:lnTo>
                  <a:cubicBezTo>
                    <a:pt x="2959862" y="148209"/>
                    <a:pt x="2952242" y="155702"/>
                    <a:pt x="294297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2942971" y="121920"/>
                  </a:lnTo>
                  <a:lnTo>
                    <a:pt x="2942971" y="138811"/>
                  </a:lnTo>
                  <a:lnTo>
                    <a:pt x="2926080" y="138811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7B73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533120" y="7132320"/>
            <a:ext cx="1828800" cy="548640"/>
            <a:chOff x="0" y="0"/>
            <a:chExt cx="24384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7B73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Team: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533120" y="7406673"/>
            <a:ext cx="4561882" cy="1851627"/>
            <a:chOff x="0" y="0"/>
            <a:chExt cx="21457920" cy="870957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457920" cy="8709578"/>
            </a:xfrm>
            <a:custGeom>
              <a:avLst/>
              <a:gdLst/>
              <a:ahLst/>
              <a:cxnLst/>
              <a:rect r="r" b="b" t="t" l="l"/>
              <a:pathLst>
                <a:path h="8709578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8709578"/>
                  </a:lnTo>
                  <a:lnTo>
                    <a:pt x="0" y="87095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086" r="0" b="4807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1457920" cy="87476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Ramakrishna Eswar Naidu  –  AP23110010116   Bommidi Pranay  –  AP23110010149   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Valluri Sai Raju  –  AP23110010153  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Duddela Sooraj Krishna  –  AP23110010122 Karnati Sasank  –  AP23110010092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-12697" y="10091423"/>
            <a:ext cx="18313403" cy="208283"/>
            <a:chOff x="0" y="0"/>
            <a:chExt cx="24417871" cy="2777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152346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2346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5877563" cy="10312403"/>
            <a:chOff x="0" y="0"/>
            <a:chExt cx="783675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7802881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7802881">
                  <a:moveTo>
                    <a:pt x="0" y="0"/>
                  </a:moveTo>
                  <a:lnTo>
                    <a:pt x="7802881" y="0"/>
                  </a:lnTo>
                  <a:lnTo>
                    <a:pt x="7802881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F1B3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3666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7836662">
                  <a:moveTo>
                    <a:pt x="16891" y="0"/>
                  </a:moveTo>
                  <a:lnTo>
                    <a:pt x="7819772" y="0"/>
                  </a:lnTo>
                  <a:cubicBezTo>
                    <a:pt x="7829169" y="0"/>
                    <a:pt x="7836662" y="7620"/>
                    <a:pt x="7836662" y="16891"/>
                  </a:cubicBezTo>
                  <a:lnTo>
                    <a:pt x="7836662" y="13732890"/>
                  </a:lnTo>
                  <a:cubicBezTo>
                    <a:pt x="7836662" y="13742290"/>
                    <a:pt x="7829042" y="13749782"/>
                    <a:pt x="7819772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7819772" y="13716000"/>
                  </a:lnTo>
                  <a:lnTo>
                    <a:pt x="7819772" y="13732890"/>
                  </a:lnTo>
                  <a:lnTo>
                    <a:pt x="7802880" y="13732890"/>
                  </a:lnTo>
                  <a:lnTo>
                    <a:pt x="7802880" y="16891"/>
                  </a:lnTo>
                  <a:lnTo>
                    <a:pt x="7819772" y="16891"/>
                  </a:lnTo>
                  <a:lnTo>
                    <a:pt x="7819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1B3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365765" y="1750066"/>
            <a:ext cx="5120640" cy="2194560"/>
            <a:chOff x="0" y="0"/>
            <a:chExt cx="6827520" cy="2926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275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6827520" cy="3030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AGENDA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53063" y="3827783"/>
            <a:ext cx="1854203" cy="116843"/>
            <a:chOff x="0" y="0"/>
            <a:chExt cx="2472271" cy="1557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400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72182" cy="155704"/>
            </a:xfrm>
            <a:custGeom>
              <a:avLst/>
              <a:gdLst/>
              <a:ahLst/>
              <a:cxnLst/>
              <a:rect r="r" b="b" t="t" l="l"/>
              <a:pathLst>
                <a:path h="155704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138811"/>
                  </a:lnTo>
                  <a:cubicBezTo>
                    <a:pt x="2472182" y="148209"/>
                    <a:pt x="2464562" y="155702"/>
                    <a:pt x="24552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2455291" y="121920"/>
                  </a:lnTo>
                  <a:lnTo>
                    <a:pt x="2455291" y="138811"/>
                  </a:lnTo>
                  <a:lnTo>
                    <a:pt x="2438400" y="138811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ECDC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296663" y="773687"/>
            <a:ext cx="610619" cy="610619"/>
            <a:chOff x="0" y="0"/>
            <a:chExt cx="814159" cy="8141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752"/>
                    <a:pt x="780288" y="390144"/>
                  </a:cubicBezTo>
                  <a:cubicBezTo>
                    <a:pt x="780288" y="605536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1A3A8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4070" cy="814070"/>
            </a:xfrm>
            <a:custGeom>
              <a:avLst/>
              <a:gdLst/>
              <a:ahLst/>
              <a:cxnLst/>
              <a:rect r="r" b="b" t="t" l="l"/>
              <a:pathLst>
                <a:path h="814070" w="814070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407035" y="16891"/>
                  </a:lnTo>
                  <a:lnTo>
                    <a:pt x="407035" y="0"/>
                  </a:lnTo>
                  <a:cubicBezTo>
                    <a:pt x="631825" y="0"/>
                    <a:pt x="814070" y="182245"/>
                    <a:pt x="814070" y="407035"/>
                  </a:cubicBezTo>
                  <a:cubicBezTo>
                    <a:pt x="814070" y="631825"/>
                    <a:pt x="631825" y="814070"/>
                    <a:pt x="407035" y="814070"/>
                  </a:cubicBezTo>
                  <a:lnTo>
                    <a:pt x="407035" y="797179"/>
                  </a:ln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lnTo>
                    <a:pt x="16891" y="407035"/>
                  </a:lnTo>
                  <a:lnTo>
                    <a:pt x="31242" y="416052"/>
                  </a:lnTo>
                  <a:cubicBezTo>
                    <a:pt x="27178" y="422402"/>
                    <a:pt x="19431" y="425450"/>
                    <a:pt x="12192" y="423291"/>
                  </a:cubicBezTo>
                  <a:cubicBezTo>
                    <a:pt x="4953" y="421132"/>
                    <a:pt x="0" y="414655"/>
                    <a:pt x="0" y="407035"/>
                  </a:cubicBezTo>
                  <a:moveTo>
                    <a:pt x="33909" y="407035"/>
                  </a:moveTo>
                  <a:lnTo>
                    <a:pt x="16891" y="407035"/>
                  </a:lnTo>
                  <a:lnTo>
                    <a:pt x="2540" y="398145"/>
                  </a:lnTo>
                  <a:cubicBezTo>
                    <a:pt x="6604" y="391795"/>
                    <a:pt x="14351" y="388747"/>
                    <a:pt x="21590" y="390906"/>
                  </a:cubicBezTo>
                  <a:cubicBezTo>
                    <a:pt x="28829" y="393065"/>
                    <a:pt x="33909" y="399669"/>
                    <a:pt x="33909" y="407162"/>
                  </a:cubicBezTo>
                  <a:cubicBezTo>
                    <a:pt x="33909" y="613283"/>
                    <a:pt x="201041" y="780415"/>
                    <a:pt x="407162" y="780415"/>
                  </a:cubicBezTo>
                  <a:cubicBezTo>
                    <a:pt x="613283" y="780415"/>
                    <a:pt x="780288" y="613156"/>
                    <a:pt x="780288" y="407035"/>
                  </a:cubicBezTo>
                  <a:lnTo>
                    <a:pt x="797179" y="407035"/>
                  </a:lnTo>
                  <a:lnTo>
                    <a:pt x="780288" y="407035"/>
                  </a:lnTo>
                  <a:cubicBezTo>
                    <a:pt x="780288" y="200914"/>
                    <a:pt x="613156" y="33782"/>
                    <a:pt x="407035" y="33782"/>
                  </a:cubicBezTo>
                  <a:lnTo>
                    <a:pt x="407035" y="16891"/>
                  </a:lnTo>
                  <a:lnTo>
                    <a:pt x="407035" y="33909"/>
                  </a:lnTo>
                  <a:cubicBezTo>
                    <a:pt x="200914" y="33909"/>
                    <a:pt x="33909" y="200914"/>
                    <a:pt x="33909" y="407035"/>
                  </a:cubicBezTo>
                  <a:close/>
                </a:path>
              </a:pathLst>
            </a:custGeom>
            <a:solidFill>
              <a:srgbClr val="1A3A8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309360" y="786384"/>
            <a:ext cx="585216" cy="585216"/>
            <a:chOff x="0" y="0"/>
            <a:chExt cx="780288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78028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040880" y="822960"/>
            <a:ext cx="4937760" cy="512064"/>
            <a:chOff x="0" y="0"/>
            <a:chExt cx="658368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5836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Overview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96663" y="2181863"/>
            <a:ext cx="610619" cy="610619"/>
            <a:chOff x="0" y="0"/>
            <a:chExt cx="814159" cy="8141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752"/>
                    <a:pt x="780288" y="390144"/>
                  </a:cubicBezTo>
                  <a:cubicBezTo>
                    <a:pt x="780288" y="605536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1A3A8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4070" cy="814070"/>
            </a:xfrm>
            <a:custGeom>
              <a:avLst/>
              <a:gdLst/>
              <a:ahLst/>
              <a:cxnLst/>
              <a:rect r="r" b="b" t="t" l="l"/>
              <a:pathLst>
                <a:path h="814070" w="814070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407035" y="16891"/>
                  </a:lnTo>
                  <a:lnTo>
                    <a:pt x="407035" y="0"/>
                  </a:lnTo>
                  <a:cubicBezTo>
                    <a:pt x="631825" y="0"/>
                    <a:pt x="814070" y="182245"/>
                    <a:pt x="814070" y="407035"/>
                  </a:cubicBezTo>
                  <a:cubicBezTo>
                    <a:pt x="814070" y="631825"/>
                    <a:pt x="631825" y="814070"/>
                    <a:pt x="407035" y="814070"/>
                  </a:cubicBezTo>
                  <a:lnTo>
                    <a:pt x="407035" y="797179"/>
                  </a:ln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lnTo>
                    <a:pt x="16891" y="407035"/>
                  </a:lnTo>
                  <a:lnTo>
                    <a:pt x="31242" y="416052"/>
                  </a:lnTo>
                  <a:cubicBezTo>
                    <a:pt x="27178" y="422402"/>
                    <a:pt x="19431" y="425450"/>
                    <a:pt x="12192" y="423291"/>
                  </a:cubicBezTo>
                  <a:cubicBezTo>
                    <a:pt x="4953" y="421132"/>
                    <a:pt x="0" y="414655"/>
                    <a:pt x="0" y="407035"/>
                  </a:cubicBezTo>
                  <a:moveTo>
                    <a:pt x="33909" y="407035"/>
                  </a:moveTo>
                  <a:lnTo>
                    <a:pt x="16891" y="407035"/>
                  </a:lnTo>
                  <a:lnTo>
                    <a:pt x="2540" y="398145"/>
                  </a:lnTo>
                  <a:cubicBezTo>
                    <a:pt x="6604" y="391795"/>
                    <a:pt x="14351" y="388747"/>
                    <a:pt x="21590" y="390906"/>
                  </a:cubicBezTo>
                  <a:cubicBezTo>
                    <a:pt x="28829" y="393065"/>
                    <a:pt x="33909" y="399669"/>
                    <a:pt x="33909" y="407162"/>
                  </a:cubicBezTo>
                  <a:cubicBezTo>
                    <a:pt x="33909" y="613283"/>
                    <a:pt x="201041" y="780415"/>
                    <a:pt x="407162" y="780415"/>
                  </a:cubicBezTo>
                  <a:cubicBezTo>
                    <a:pt x="613283" y="780415"/>
                    <a:pt x="780288" y="613156"/>
                    <a:pt x="780288" y="407035"/>
                  </a:cubicBezTo>
                  <a:lnTo>
                    <a:pt x="797179" y="407035"/>
                  </a:lnTo>
                  <a:lnTo>
                    <a:pt x="780288" y="407035"/>
                  </a:lnTo>
                  <a:cubicBezTo>
                    <a:pt x="780288" y="200914"/>
                    <a:pt x="613156" y="33782"/>
                    <a:pt x="407035" y="33782"/>
                  </a:cubicBezTo>
                  <a:lnTo>
                    <a:pt x="407035" y="16891"/>
                  </a:lnTo>
                  <a:lnTo>
                    <a:pt x="407035" y="33909"/>
                  </a:lnTo>
                  <a:cubicBezTo>
                    <a:pt x="200914" y="33909"/>
                    <a:pt x="33909" y="200914"/>
                    <a:pt x="33909" y="407035"/>
                  </a:cubicBezTo>
                  <a:close/>
                </a:path>
              </a:pathLst>
            </a:custGeom>
            <a:solidFill>
              <a:srgbClr val="1A3A8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309360" y="2194560"/>
            <a:ext cx="585216" cy="585216"/>
            <a:chOff x="0" y="0"/>
            <a:chExt cx="780288" cy="7802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78028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040880" y="2231136"/>
            <a:ext cx="4937760" cy="512064"/>
            <a:chOff x="0" y="0"/>
            <a:chExt cx="658368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65836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 Statement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296663" y="3590039"/>
            <a:ext cx="610619" cy="610619"/>
            <a:chOff x="0" y="0"/>
            <a:chExt cx="814159" cy="8141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752"/>
                    <a:pt x="780288" y="390144"/>
                  </a:cubicBezTo>
                  <a:cubicBezTo>
                    <a:pt x="780288" y="605536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1A3A8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4070" cy="814070"/>
            </a:xfrm>
            <a:custGeom>
              <a:avLst/>
              <a:gdLst/>
              <a:ahLst/>
              <a:cxnLst/>
              <a:rect r="r" b="b" t="t" l="l"/>
              <a:pathLst>
                <a:path h="814070" w="814070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407035" y="16891"/>
                  </a:lnTo>
                  <a:lnTo>
                    <a:pt x="407035" y="0"/>
                  </a:lnTo>
                  <a:cubicBezTo>
                    <a:pt x="631825" y="0"/>
                    <a:pt x="814070" y="182245"/>
                    <a:pt x="814070" y="407035"/>
                  </a:cubicBezTo>
                  <a:cubicBezTo>
                    <a:pt x="814070" y="631825"/>
                    <a:pt x="631825" y="814070"/>
                    <a:pt x="407035" y="814070"/>
                  </a:cubicBezTo>
                  <a:lnTo>
                    <a:pt x="407035" y="797179"/>
                  </a:ln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lnTo>
                    <a:pt x="16891" y="407035"/>
                  </a:lnTo>
                  <a:lnTo>
                    <a:pt x="31242" y="416052"/>
                  </a:lnTo>
                  <a:cubicBezTo>
                    <a:pt x="27178" y="422402"/>
                    <a:pt x="19431" y="425450"/>
                    <a:pt x="12192" y="423291"/>
                  </a:cubicBezTo>
                  <a:cubicBezTo>
                    <a:pt x="4953" y="421132"/>
                    <a:pt x="0" y="414655"/>
                    <a:pt x="0" y="407035"/>
                  </a:cubicBezTo>
                  <a:moveTo>
                    <a:pt x="33909" y="407035"/>
                  </a:moveTo>
                  <a:lnTo>
                    <a:pt x="16891" y="407035"/>
                  </a:lnTo>
                  <a:lnTo>
                    <a:pt x="2540" y="398145"/>
                  </a:lnTo>
                  <a:cubicBezTo>
                    <a:pt x="6604" y="391795"/>
                    <a:pt x="14351" y="388747"/>
                    <a:pt x="21590" y="390906"/>
                  </a:cubicBezTo>
                  <a:cubicBezTo>
                    <a:pt x="28829" y="393065"/>
                    <a:pt x="33909" y="399669"/>
                    <a:pt x="33909" y="407162"/>
                  </a:cubicBezTo>
                  <a:cubicBezTo>
                    <a:pt x="33909" y="613283"/>
                    <a:pt x="201041" y="780415"/>
                    <a:pt x="407162" y="780415"/>
                  </a:cubicBezTo>
                  <a:cubicBezTo>
                    <a:pt x="613283" y="780415"/>
                    <a:pt x="780288" y="613156"/>
                    <a:pt x="780288" y="407035"/>
                  </a:cubicBezTo>
                  <a:lnTo>
                    <a:pt x="797179" y="407035"/>
                  </a:lnTo>
                  <a:lnTo>
                    <a:pt x="780288" y="407035"/>
                  </a:lnTo>
                  <a:cubicBezTo>
                    <a:pt x="780288" y="200914"/>
                    <a:pt x="613156" y="33782"/>
                    <a:pt x="407035" y="33782"/>
                  </a:cubicBezTo>
                  <a:lnTo>
                    <a:pt x="407035" y="16891"/>
                  </a:lnTo>
                  <a:lnTo>
                    <a:pt x="407035" y="33909"/>
                  </a:lnTo>
                  <a:cubicBezTo>
                    <a:pt x="200914" y="33909"/>
                    <a:pt x="33909" y="200914"/>
                    <a:pt x="33909" y="407035"/>
                  </a:cubicBezTo>
                  <a:close/>
                </a:path>
              </a:pathLst>
            </a:custGeom>
            <a:solidFill>
              <a:srgbClr val="1A3A8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309360" y="3602736"/>
            <a:ext cx="585216" cy="585216"/>
            <a:chOff x="0" y="0"/>
            <a:chExt cx="780288" cy="7802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78028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040880" y="3639312"/>
            <a:ext cx="4937760" cy="512064"/>
            <a:chOff x="0" y="0"/>
            <a:chExt cx="658368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65836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Objectives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296663" y="4998215"/>
            <a:ext cx="610619" cy="610619"/>
            <a:chOff x="0" y="0"/>
            <a:chExt cx="814159" cy="81415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752"/>
                    <a:pt x="780288" y="390144"/>
                  </a:cubicBezTo>
                  <a:cubicBezTo>
                    <a:pt x="780288" y="605536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1A3A8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4070" cy="814070"/>
            </a:xfrm>
            <a:custGeom>
              <a:avLst/>
              <a:gdLst/>
              <a:ahLst/>
              <a:cxnLst/>
              <a:rect r="r" b="b" t="t" l="l"/>
              <a:pathLst>
                <a:path h="814070" w="814070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407035" y="16891"/>
                  </a:lnTo>
                  <a:lnTo>
                    <a:pt x="407035" y="0"/>
                  </a:lnTo>
                  <a:cubicBezTo>
                    <a:pt x="631825" y="0"/>
                    <a:pt x="814070" y="182245"/>
                    <a:pt x="814070" y="407035"/>
                  </a:cubicBezTo>
                  <a:cubicBezTo>
                    <a:pt x="814070" y="631825"/>
                    <a:pt x="631825" y="814070"/>
                    <a:pt x="407035" y="814070"/>
                  </a:cubicBezTo>
                  <a:lnTo>
                    <a:pt x="407035" y="797179"/>
                  </a:ln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lnTo>
                    <a:pt x="16891" y="407035"/>
                  </a:lnTo>
                  <a:lnTo>
                    <a:pt x="31242" y="416052"/>
                  </a:lnTo>
                  <a:cubicBezTo>
                    <a:pt x="27178" y="422402"/>
                    <a:pt x="19431" y="425450"/>
                    <a:pt x="12192" y="423291"/>
                  </a:cubicBezTo>
                  <a:cubicBezTo>
                    <a:pt x="4953" y="421132"/>
                    <a:pt x="0" y="414655"/>
                    <a:pt x="0" y="407035"/>
                  </a:cubicBezTo>
                  <a:moveTo>
                    <a:pt x="33909" y="407035"/>
                  </a:moveTo>
                  <a:lnTo>
                    <a:pt x="16891" y="407035"/>
                  </a:lnTo>
                  <a:lnTo>
                    <a:pt x="2540" y="398145"/>
                  </a:lnTo>
                  <a:cubicBezTo>
                    <a:pt x="6604" y="391795"/>
                    <a:pt x="14351" y="388747"/>
                    <a:pt x="21590" y="390906"/>
                  </a:cubicBezTo>
                  <a:cubicBezTo>
                    <a:pt x="28829" y="393065"/>
                    <a:pt x="33909" y="399669"/>
                    <a:pt x="33909" y="407162"/>
                  </a:cubicBezTo>
                  <a:cubicBezTo>
                    <a:pt x="33909" y="613283"/>
                    <a:pt x="201041" y="780415"/>
                    <a:pt x="407162" y="780415"/>
                  </a:cubicBezTo>
                  <a:cubicBezTo>
                    <a:pt x="613283" y="780415"/>
                    <a:pt x="780288" y="613156"/>
                    <a:pt x="780288" y="407035"/>
                  </a:cubicBezTo>
                  <a:lnTo>
                    <a:pt x="797179" y="407035"/>
                  </a:lnTo>
                  <a:lnTo>
                    <a:pt x="780288" y="407035"/>
                  </a:lnTo>
                  <a:cubicBezTo>
                    <a:pt x="780288" y="200914"/>
                    <a:pt x="613156" y="33782"/>
                    <a:pt x="407035" y="33782"/>
                  </a:cubicBezTo>
                  <a:lnTo>
                    <a:pt x="407035" y="16891"/>
                  </a:lnTo>
                  <a:lnTo>
                    <a:pt x="407035" y="33909"/>
                  </a:lnTo>
                  <a:cubicBezTo>
                    <a:pt x="200914" y="33909"/>
                    <a:pt x="33909" y="200914"/>
                    <a:pt x="33909" y="407035"/>
                  </a:cubicBezTo>
                  <a:close/>
                </a:path>
              </a:pathLst>
            </a:custGeom>
            <a:solidFill>
              <a:srgbClr val="1A3A8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309360" y="5010912"/>
            <a:ext cx="585216" cy="585216"/>
            <a:chOff x="0" y="0"/>
            <a:chExt cx="780288" cy="7802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78028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040880" y="5047488"/>
            <a:ext cx="4937760" cy="512064"/>
            <a:chOff x="0" y="0"/>
            <a:chExt cx="658368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65836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Technologies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296663" y="6406391"/>
            <a:ext cx="610619" cy="610619"/>
            <a:chOff x="0" y="0"/>
            <a:chExt cx="814159" cy="81415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752"/>
                    <a:pt x="780288" y="390144"/>
                  </a:cubicBezTo>
                  <a:cubicBezTo>
                    <a:pt x="780288" y="605536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1A3A8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4070" cy="814070"/>
            </a:xfrm>
            <a:custGeom>
              <a:avLst/>
              <a:gdLst/>
              <a:ahLst/>
              <a:cxnLst/>
              <a:rect r="r" b="b" t="t" l="l"/>
              <a:pathLst>
                <a:path h="814070" w="814070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407035" y="16891"/>
                  </a:lnTo>
                  <a:lnTo>
                    <a:pt x="407035" y="0"/>
                  </a:lnTo>
                  <a:cubicBezTo>
                    <a:pt x="631825" y="0"/>
                    <a:pt x="814070" y="182245"/>
                    <a:pt x="814070" y="407035"/>
                  </a:cubicBezTo>
                  <a:cubicBezTo>
                    <a:pt x="814070" y="631825"/>
                    <a:pt x="631825" y="814070"/>
                    <a:pt x="407035" y="814070"/>
                  </a:cubicBezTo>
                  <a:lnTo>
                    <a:pt x="407035" y="797179"/>
                  </a:ln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lnTo>
                    <a:pt x="16891" y="407035"/>
                  </a:lnTo>
                  <a:lnTo>
                    <a:pt x="31242" y="416052"/>
                  </a:lnTo>
                  <a:cubicBezTo>
                    <a:pt x="27178" y="422402"/>
                    <a:pt x="19431" y="425450"/>
                    <a:pt x="12192" y="423291"/>
                  </a:cubicBezTo>
                  <a:cubicBezTo>
                    <a:pt x="4953" y="421132"/>
                    <a:pt x="0" y="414655"/>
                    <a:pt x="0" y="407035"/>
                  </a:cubicBezTo>
                  <a:moveTo>
                    <a:pt x="33909" y="407035"/>
                  </a:moveTo>
                  <a:lnTo>
                    <a:pt x="16891" y="407035"/>
                  </a:lnTo>
                  <a:lnTo>
                    <a:pt x="2540" y="398145"/>
                  </a:lnTo>
                  <a:cubicBezTo>
                    <a:pt x="6604" y="391795"/>
                    <a:pt x="14351" y="388747"/>
                    <a:pt x="21590" y="390906"/>
                  </a:cubicBezTo>
                  <a:cubicBezTo>
                    <a:pt x="28829" y="393065"/>
                    <a:pt x="33909" y="399669"/>
                    <a:pt x="33909" y="407162"/>
                  </a:cubicBezTo>
                  <a:cubicBezTo>
                    <a:pt x="33909" y="613283"/>
                    <a:pt x="201041" y="780415"/>
                    <a:pt x="407162" y="780415"/>
                  </a:cubicBezTo>
                  <a:cubicBezTo>
                    <a:pt x="613283" y="780415"/>
                    <a:pt x="780288" y="613156"/>
                    <a:pt x="780288" y="407035"/>
                  </a:cubicBezTo>
                  <a:lnTo>
                    <a:pt x="797179" y="407035"/>
                  </a:lnTo>
                  <a:lnTo>
                    <a:pt x="780288" y="407035"/>
                  </a:lnTo>
                  <a:cubicBezTo>
                    <a:pt x="780288" y="200914"/>
                    <a:pt x="613156" y="33782"/>
                    <a:pt x="407035" y="33782"/>
                  </a:cubicBezTo>
                  <a:lnTo>
                    <a:pt x="407035" y="16891"/>
                  </a:lnTo>
                  <a:lnTo>
                    <a:pt x="407035" y="33909"/>
                  </a:lnTo>
                  <a:cubicBezTo>
                    <a:pt x="200914" y="33909"/>
                    <a:pt x="33909" y="200914"/>
                    <a:pt x="33909" y="407035"/>
                  </a:cubicBezTo>
                  <a:close/>
                </a:path>
              </a:pathLst>
            </a:custGeom>
            <a:solidFill>
              <a:srgbClr val="1A3A8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309360" y="6419088"/>
            <a:ext cx="585216" cy="585216"/>
            <a:chOff x="0" y="0"/>
            <a:chExt cx="780288" cy="7802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78028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040880" y="6455664"/>
            <a:ext cx="4937760" cy="512064"/>
            <a:chOff x="0" y="0"/>
            <a:chExt cx="658368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65836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Architecture &amp; Pipeline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296663" y="7814567"/>
            <a:ext cx="610619" cy="610619"/>
            <a:chOff x="0" y="0"/>
            <a:chExt cx="814159" cy="81415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752"/>
                    <a:pt x="780288" y="390144"/>
                  </a:cubicBezTo>
                  <a:cubicBezTo>
                    <a:pt x="780288" y="605536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1A3A8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4070" cy="814070"/>
            </a:xfrm>
            <a:custGeom>
              <a:avLst/>
              <a:gdLst/>
              <a:ahLst/>
              <a:cxnLst/>
              <a:rect r="r" b="b" t="t" l="l"/>
              <a:pathLst>
                <a:path h="814070" w="814070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407035" y="16891"/>
                  </a:lnTo>
                  <a:lnTo>
                    <a:pt x="407035" y="0"/>
                  </a:lnTo>
                  <a:cubicBezTo>
                    <a:pt x="631825" y="0"/>
                    <a:pt x="814070" y="182245"/>
                    <a:pt x="814070" y="407035"/>
                  </a:cubicBezTo>
                  <a:cubicBezTo>
                    <a:pt x="814070" y="631825"/>
                    <a:pt x="631825" y="814070"/>
                    <a:pt x="407035" y="814070"/>
                  </a:cubicBezTo>
                  <a:lnTo>
                    <a:pt x="407035" y="797179"/>
                  </a:ln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lnTo>
                    <a:pt x="16891" y="407035"/>
                  </a:lnTo>
                  <a:lnTo>
                    <a:pt x="31242" y="416052"/>
                  </a:lnTo>
                  <a:cubicBezTo>
                    <a:pt x="27178" y="422402"/>
                    <a:pt x="19431" y="425450"/>
                    <a:pt x="12192" y="423291"/>
                  </a:cubicBezTo>
                  <a:cubicBezTo>
                    <a:pt x="4953" y="421132"/>
                    <a:pt x="0" y="414655"/>
                    <a:pt x="0" y="407035"/>
                  </a:cubicBezTo>
                  <a:moveTo>
                    <a:pt x="33909" y="407035"/>
                  </a:moveTo>
                  <a:lnTo>
                    <a:pt x="16891" y="407035"/>
                  </a:lnTo>
                  <a:lnTo>
                    <a:pt x="2540" y="398145"/>
                  </a:lnTo>
                  <a:cubicBezTo>
                    <a:pt x="6604" y="391795"/>
                    <a:pt x="14351" y="388747"/>
                    <a:pt x="21590" y="390906"/>
                  </a:cubicBezTo>
                  <a:cubicBezTo>
                    <a:pt x="28829" y="393065"/>
                    <a:pt x="33909" y="399669"/>
                    <a:pt x="33909" y="407162"/>
                  </a:cubicBezTo>
                  <a:cubicBezTo>
                    <a:pt x="33909" y="613283"/>
                    <a:pt x="201041" y="780415"/>
                    <a:pt x="407162" y="780415"/>
                  </a:cubicBezTo>
                  <a:cubicBezTo>
                    <a:pt x="613283" y="780415"/>
                    <a:pt x="780288" y="613156"/>
                    <a:pt x="780288" y="407035"/>
                  </a:cubicBezTo>
                  <a:lnTo>
                    <a:pt x="797179" y="407035"/>
                  </a:lnTo>
                  <a:lnTo>
                    <a:pt x="780288" y="407035"/>
                  </a:lnTo>
                  <a:cubicBezTo>
                    <a:pt x="780288" y="200914"/>
                    <a:pt x="613156" y="33782"/>
                    <a:pt x="407035" y="33782"/>
                  </a:cubicBezTo>
                  <a:lnTo>
                    <a:pt x="407035" y="16891"/>
                  </a:lnTo>
                  <a:lnTo>
                    <a:pt x="407035" y="33909"/>
                  </a:lnTo>
                  <a:cubicBezTo>
                    <a:pt x="200914" y="33909"/>
                    <a:pt x="33909" y="200914"/>
                    <a:pt x="33909" y="407035"/>
                  </a:cubicBezTo>
                  <a:close/>
                </a:path>
              </a:pathLst>
            </a:custGeom>
            <a:solidFill>
              <a:srgbClr val="1A3A8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309360" y="7827264"/>
            <a:ext cx="585216" cy="585216"/>
            <a:chOff x="0" y="0"/>
            <a:chExt cx="780288" cy="78028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78028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040880" y="7863840"/>
            <a:ext cx="4937760" cy="512064"/>
            <a:chOff x="0" y="0"/>
            <a:chExt cx="6583680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65836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 Features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240263" y="773687"/>
            <a:ext cx="610619" cy="610619"/>
            <a:chOff x="0" y="0"/>
            <a:chExt cx="814159" cy="81415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752"/>
                    <a:pt x="780288" y="390144"/>
                  </a:cubicBezTo>
                  <a:cubicBezTo>
                    <a:pt x="780288" y="605536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14070" cy="814070"/>
            </a:xfrm>
            <a:custGeom>
              <a:avLst/>
              <a:gdLst/>
              <a:ahLst/>
              <a:cxnLst/>
              <a:rect r="r" b="b" t="t" l="l"/>
              <a:pathLst>
                <a:path h="814070" w="814070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407035" y="16891"/>
                  </a:lnTo>
                  <a:lnTo>
                    <a:pt x="407035" y="0"/>
                  </a:lnTo>
                  <a:cubicBezTo>
                    <a:pt x="631825" y="0"/>
                    <a:pt x="814070" y="182245"/>
                    <a:pt x="814070" y="407035"/>
                  </a:cubicBezTo>
                  <a:cubicBezTo>
                    <a:pt x="814070" y="631825"/>
                    <a:pt x="631825" y="814070"/>
                    <a:pt x="407035" y="814070"/>
                  </a:cubicBezTo>
                  <a:lnTo>
                    <a:pt x="407035" y="797179"/>
                  </a:ln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lnTo>
                    <a:pt x="16891" y="407035"/>
                  </a:lnTo>
                  <a:lnTo>
                    <a:pt x="31242" y="416052"/>
                  </a:lnTo>
                  <a:cubicBezTo>
                    <a:pt x="27178" y="422402"/>
                    <a:pt x="19431" y="425450"/>
                    <a:pt x="12192" y="423291"/>
                  </a:cubicBezTo>
                  <a:cubicBezTo>
                    <a:pt x="4953" y="421132"/>
                    <a:pt x="0" y="414655"/>
                    <a:pt x="0" y="407035"/>
                  </a:cubicBezTo>
                  <a:moveTo>
                    <a:pt x="33909" y="407035"/>
                  </a:moveTo>
                  <a:lnTo>
                    <a:pt x="16891" y="407035"/>
                  </a:lnTo>
                  <a:lnTo>
                    <a:pt x="2540" y="398145"/>
                  </a:lnTo>
                  <a:cubicBezTo>
                    <a:pt x="6604" y="391795"/>
                    <a:pt x="14351" y="388747"/>
                    <a:pt x="21590" y="390906"/>
                  </a:cubicBezTo>
                  <a:cubicBezTo>
                    <a:pt x="28829" y="393065"/>
                    <a:pt x="33909" y="399669"/>
                    <a:pt x="33909" y="407162"/>
                  </a:cubicBezTo>
                  <a:cubicBezTo>
                    <a:pt x="33909" y="613283"/>
                    <a:pt x="201041" y="780415"/>
                    <a:pt x="407162" y="780415"/>
                  </a:cubicBezTo>
                  <a:cubicBezTo>
                    <a:pt x="613283" y="780415"/>
                    <a:pt x="780288" y="613156"/>
                    <a:pt x="780288" y="407035"/>
                  </a:cubicBezTo>
                  <a:lnTo>
                    <a:pt x="797179" y="407035"/>
                  </a:lnTo>
                  <a:lnTo>
                    <a:pt x="780288" y="407035"/>
                  </a:lnTo>
                  <a:cubicBezTo>
                    <a:pt x="780288" y="200914"/>
                    <a:pt x="613156" y="33782"/>
                    <a:pt x="407035" y="33782"/>
                  </a:cubicBezTo>
                  <a:lnTo>
                    <a:pt x="407035" y="16891"/>
                  </a:lnTo>
                  <a:lnTo>
                    <a:pt x="407035" y="33909"/>
                  </a:lnTo>
                  <a:cubicBezTo>
                    <a:pt x="200914" y="33909"/>
                    <a:pt x="33909" y="200914"/>
                    <a:pt x="33909" y="407035"/>
                  </a:cubicBezTo>
                  <a:close/>
                </a:path>
              </a:pathLst>
            </a:custGeom>
            <a:solidFill>
              <a:srgbClr val="4ECDC4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252960" y="786384"/>
            <a:ext cx="585216" cy="585216"/>
            <a:chOff x="0" y="0"/>
            <a:chExt cx="780288" cy="7802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78028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F1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984480" y="822960"/>
            <a:ext cx="4937760" cy="512064"/>
            <a:chOff x="0" y="0"/>
            <a:chExt cx="6583680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65836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 Cases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240263" y="2181863"/>
            <a:ext cx="610619" cy="610619"/>
            <a:chOff x="0" y="0"/>
            <a:chExt cx="814159" cy="81415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752"/>
                    <a:pt x="780288" y="390144"/>
                  </a:cubicBezTo>
                  <a:cubicBezTo>
                    <a:pt x="780288" y="605536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14070" cy="814070"/>
            </a:xfrm>
            <a:custGeom>
              <a:avLst/>
              <a:gdLst/>
              <a:ahLst/>
              <a:cxnLst/>
              <a:rect r="r" b="b" t="t" l="l"/>
              <a:pathLst>
                <a:path h="814070" w="814070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407035" y="16891"/>
                  </a:lnTo>
                  <a:lnTo>
                    <a:pt x="407035" y="0"/>
                  </a:lnTo>
                  <a:cubicBezTo>
                    <a:pt x="631825" y="0"/>
                    <a:pt x="814070" y="182245"/>
                    <a:pt x="814070" y="407035"/>
                  </a:cubicBezTo>
                  <a:cubicBezTo>
                    <a:pt x="814070" y="631825"/>
                    <a:pt x="631825" y="814070"/>
                    <a:pt x="407035" y="814070"/>
                  </a:cubicBezTo>
                  <a:lnTo>
                    <a:pt x="407035" y="797179"/>
                  </a:ln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lnTo>
                    <a:pt x="16891" y="407035"/>
                  </a:lnTo>
                  <a:lnTo>
                    <a:pt x="31242" y="416052"/>
                  </a:lnTo>
                  <a:cubicBezTo>
                    <a:pt x="27178" y="422402"/>
                    <a:pt x="19431" y="425450"/>
                    <a:pt x="12192" y="423291"/>
                  </a:cubicBezTo>
                  <a:cubicBezTo>
                    <a:pt x="4953" y="421132"/>
                    <a:pt x="0" y="414655"/>
                    <a:pt x="0" y="407035"/>
                  </a:cubicBezTo>
                  <a:moveTo>
                    <a:pt x="33909" y="407035"/>
                  </a:moveTo>
                  <a:lnTo>
                    <a:pt x="16891" y="407035"/>
                  </a:lnTo>
                  <a:lnTo>
                    <a:pt x="2540" y="398145"/>
                  </a:lnTo>
                  <a:cubicBezTo>
                    <a:pt x="6604" y="391795"/>
                    <a:pt x="14351" y="388747"/>
                    <a:pt x="21590" y="390906"/>
                  </a:cubicBezTo>
                  <a:cubicBezTo>
                    <a:pt x="28829" y="393065"/>
                    <a:pt x="33909" y="399669"/>
                    <a:pt x="33909" y="407162"/>
                  </a:cubicBezTo>
                  <a:cubicBezTo>
                    <a:pt x="33909" y="613283"/>
                    <a:pt x="201041" y="780415"/>
                    <a:pt x="407162" y="780415"/>
                  </a:cubicBezTo>
                  <a:cubicBezTo>
                    <a:pt x="613283" y="780415"/>
                    <a:pt x="780288" y="613156"/>
                    <a:pt x="780288" y="407035"/>
                  </a:cubicBezTo>
                  <a:lnTo>
                    <a:pt x="797179" y="407035"/>
                  </a:lnTo>
                  <a:lnTo>
                    <a:pt x="780288" y="407035"/>
                  </a:lnTo>
                  <a:cubicBezTo>
                    <a:pt x="780288" y="200914"/>
                    <a:pt x="613156" y="33782"/>
                    <a:pt x="407035" y="33782"/>
                  </a:cubicBezTo>
                  <a:lnTo>
                    <a:pt x="407035" y="16891"/>
                  </a:lnTo>
                  <a:lnTo>
                    <a:pt x="407035" y="33909"/>
                  </a:lnTo>
                  <a:cubicBezTo>
                    <a:pt x="200914" y="33909"/>
                    <a:pt x="33909" y="200914"/>
                    <a:pt x="33909" y="407035"/>
                  </a:cubicBezTo>
                  <a:close/>
                </a:path>
              </a:pathLst>
            </a:custGeom>
            <a:solidFill>
              <a:srgbClr val="4ECDC4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252960" y="2194560"/>
            <a:ext cx="585216" cy="585216"/>
            <a:chOff x="0" y="0"/>
            <a:chExt cx="780288" cy="78028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78028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F1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984480" y="2231136"/>
            <a:ext cx="4937760" cy="512064"/>
            <a:chOff x="0" y="0"/>
            <a:chExt cx="6583680" cy="6827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57150"/>
              <a:ext cx="65836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Results &amp; Performance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240263" y="3590039"/>
            <a:ext cx="610619" cy="610619"/>
            <a:chOff x="0" y="0"/>
            <a:chExt cx="814159" cy="81415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752"/>
                    <a:pt x="780288" y="390144"/>
                  </a:cubicBezTo>
                  <a:cubicBezTo>
                    <a:pt x="780288" y="605536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14070" cy="814070"/>
            </a:xfrm>
            <a:custGeom>
              <a:avLst/>
              <a:gdLst/>
              <a:ahLst/>
              <a:cxnLst/>
              <a:rect r="r" b="b" t="t" l="l"/>
              <a:pathLst>
                <a:path h="814070" w="814070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407035" y="16891"/>
                  </a:lnTo>
                  <a:lnTo>
                    <a:pt x="407035" y="0"/>
                  </a:lnTo>
                  <a:cubicBezTo>
                    <a:pt x="631825" y="0"/>
                    <a:pt x="814070" y="182245"/>
                    <a:pt x="814070" y="407035"/>
                  </a:cubicBezTo>
                  <a:cubicBezTo>
                    <a:pt x="814070" y="631825"/>
                    <a:pt x="631825" y="814070"/>
                    <a:pt x="407035" y="814070"/>
                  </a:cubicBezTo>
                  <a:lnTo>
                    <a:pt x="407035" y="797179"/>
                  </a:ln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lnTo>
                    <a:pt x="16891" y="407035"/>
                  </a:lnTo>
                  <a:lnTo>
                    <a:pt x="31242" y="416052"/>
                  </a:lnTo>
                  <a:cubicBezTo>
                    <a:pt x="27178" y="422402"/>
                    <a:pt x="19431" y="425450"/>
                    <a:pt x="12192" y="423291"/>
                  </a:cubicBezTo>
                  <a:cubicBezTo>
                    <a:pt x="4953" y="421132"/>
                    <a:pt x="0" y="414655"/>
                    <a:pt x="0" y="407035"/>
                  </a:cubicBezTo>
                  <a:moveTo>
                    <a:pt x="33909" y="407035"/>
                  </a:moveTo>
                  <a:lnTo>
                    <a:pt x="16891" y="407035"/>
                  </a:lnTo>
                  <a:lnTo>
                    <a:pt x="2540" y="398145"/>
                  </a:lnTo>
                  <a:cubicBezTo>
                    <a:pt x="6604" y="391795"/>
                    <a:pt x="14351" y="388747"/>
                    <a:pt x="21590" y="390906"/>
                  </a:cubicBezTo>
                  <a:cubicBezTo>
                    <a:pt x="28829" y="393065"/>
                    <a:pt x="33909" y="399669"/>
                    <a:pt x="33909" y="407162"/>
                  </a:cubicBezTo>
                  <a:cubicBezTo>
                    <a:pt x="33909" y="613283"/>
                    <a:pt x="201041" y="780415"/>
                    <a:pt x="407162" y="780415"/>
                  </a:cubicBezTo>
                  <a:cubicBezTo>
                    <a:pt x="613283" y="780415"/>
                    <a:pt x="780288" y="613156"/>
                    <a:pt x="780288" y="407035"/>
                  </a:cubicBezTo>
                  <a:lnTo>
                    <a:pt x="797179" y="407035"/>
                  </a:lnTo>
                  <a:lnTo>
                    <a:pt x="780288" y="407035"/>
                  </a:lnTo>
                  <a:cubicBezTo>
                    <a:pt x="780288" y="200914"/>
                    <a:pt x="613156" y="33782"/>
                    <a:pt x="407035" y="33782"/>
                  </a:cubicBezTo>
                  <a:lnTo>
                    <a:pt x="407035" y="16891"/>
                  </a:lnTo>
                  <a:lnTo>
                    <a:pt x="407035" y="33909"/>
                  </a:lnTo>
                  <a:cubicBezTo>
                    <a:pt x="200914" y="33909"/>
                    <a:pt x="33909" y="200914"/>
                    <a:pt x="33909" y="407035"/>
                  </a:cubicBezTo>
                  <a:close/>
                </a:path>
              </a:pathLst>
            </a:custGeom>
            <a:solidFill>
              <a:srgbClr val="4ECDC4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252960" y="3602736"/>
            <a:ext cx="585216" cy="585216"/>
            <a:chOff x="0" y="0"/>
            <a:chExt cx="780288" cy="78028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78028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F1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984480" y="3639312"/>
            <a:ext cx="4937760" cy="512064"/>
            <a:chOff x="0" y="0"/>
            <a:chExt cx="6583680" cy="68275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57150"/>
              <a:ext cx="65836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Advantages &amp; Limitations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240263" y="4998215"/>
            <a:ext cx="610619" cy="610619"/>
            <a:chOff x="0" y="0"/>
            <a:chExt cx="814159" cy="81415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752"/>
                    <a:pt x="780288" y="390144"/>
                  </a:cubicBezTo>
                  <a:cubicBezTo>
                    <a:pt x="780288" y="605536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14070" cy="814070"/>
            </a:xfrm>
            <a:custGeom>
              <a:avLst/>
              <a:gdLst/>
              <a:ahLst/>
              <a:cxnLst/>
              <a:rect r="r" b="b" t="t" l="l"/>
              <a:pathLst>
                <a:path h="814070" w="814070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407035" y="16891"/>
                  </a:lnTo>
                  <a:lnTo>
                    <a:pt x="407035" y="0"/>
                  </a:lnTo>
                  <a:cubicBezTo>
                    <a:pt x="631825" y="0"/>
                    <a:pt x="814070" y="182245"/>
                    <a:pt x="814070" y="407035"/>
                  </a:cubicBezTo>
                  <a:cubicBezTo>
                    <a:pt x="814070" y="631825"/>
                    <a:pt x="631825" y="814070"/>
                    <a:pt x="407035" y="814070"/>
                  </a:cubicBezTo>
                  <a:lnTo>
                    <a:pt x="407035" y="797179"/>
                  </a:ln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lnTo>
                    <a:pt x="16891" y="407035"/>
                  </a:lnTo>
                  <a:lnTo>
                    <a:pt x="31242" y="416052"/>
                  </a:lnTo>
                  <a:cubicBezTo>
                    <a:pt x="27178" y="422402"/>
                    <a:pt x="19431" y="425450"/>
                    <a:pt x="12192" y="423291"/>
                  </a:cubicBezTo>
                  <a:cubicBezTo>
                    <a:pt x="4953" y="421132"/>
                    <a:pt x="0" y="414655"/>
                    <a:pt x="0" y="407035"/>
                  </a:cubicBezTo>
                  <a:moveTo>
                    <a:pt x="33909" y="407035"/>
                  </a:moveTo>
                  <a:lnTo>
                    <a:pt x="16891" y="407035"/>
                  </a:lnTo>
                  <a:lnTo>
                    <a:pt x="2540" y="398145"/>
                  </a:lnTo>
                  <a:cubicBezTo>
                    <a:pt x="6604" y="391795"/>
                    <a:pt x="14351" y="388747"/>
                    <a:pt x="21590" y="390906"/>
                  </a:cubicBezTo>
                  <a:cubicBezTo>
                    <a:pt x="28829" y="393065"/>
                    <a:pt x="33909" y="399669"/>
                    <a:pt x="33909" y="407162"/>
                  </a:cubicBezTo>
                  <a:cubicBezTo>
                    <a:pt x="33909" y="613283"/>
                    <a:pt x="201041" y="780415"/>
                    <a:pt x="407162" y="780415"/>
                  </a:cubicBezTo>
                  <a:cubicBezTo>
                    <a:pt x="613283" y="780415"/>
                    <a:pt x="780288" y="613156"/>
                    <a:pt x="780288" y="407035"/>
                  </a:cubicBezTo>
                  <a:lnTo>
                    <a:pt x="797179" y="407035"/>
                  </a:lnTo>
                  <a:lnTo>
                    <a:pt x="780288" y="407035"/>
                  </a:lnTo>
                  <a:cubicBezTo>
                    <a:pt x="780288" y="200914"/>
                    <a:pt x="613156" y="33782"/>
                    <a:pt x="407035" y="33782"/>
                  </a:cubicBezTo>
                  <a:lnTo>
                    <a:pt x="407035" y="16891"/>
                  </a:lnTo>
                  <a:lnTo>
                    <a:pt x="407035" y="33909"/>
                  </a:lnTo>
                  <a:cubicBezTo>
                    <a:pt x="200914" y="33909"/>
                    <a:pt x="33909" y="200914"/>
                    <a:pt x="33909" y="407035"/>
                  </a:cubicBezTo>
                  <a:close/>
                </a:path>
              </a:pathLst>
            </a:custGeom>
            <a:solidFill>
              <a:srgbClr val="4ECDC4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2252960" y="5010912"/>
            <a:ext cx="585216" cy="585216"/>
            <a:chOff x="0" y="0"/>
            <a:chExt cx="780288" cy="78028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78028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F1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984480" y="5047488"/>
            <a:ext cx="4937760" cy="512064"/>
            <a:chOff x="0" y="0"/>
            <a:chExt cx="6583680" cy="68275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57150"/>
              <a:ext cx="65836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Future Enhancements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2240263" y="6406391"/>
            <a:ext cx="610619" cy="610619"/>
            <a:chOff x="0" y="0"/>
            <a:chExt cx="814159" cy="81415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752"/>
                    <a:pt x="780288" y="390144"/>
                  </a:cubicBezTo>
                  <a:cubicBezTo>
                    <a:pt x="780288" y="605536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814070" cy="814070"/>
            </a:xfrm>
            <a:custGeom>
              <a:avLst/>
              <a:gdLst/>
              <a:ahLst/>
              <a:cxnLst/>
              <a:rect r="r" b="b" t="t" l="l"/>
              <a:pathLst>
                <a:path h="814070" w="814070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407035" y="16891"/>
                  </a:lnTo>
                  <a:lnTo>
                    <a:pt x="407035" y="0"/>
                  </a:lnTo>
                  <a:cubicBezTo>
                    <a:pt x="631825" y="0"/>
                    <a:pt x="814070" y="182245"/>
                    <a:pt x="814070" y="407035"/>
                  </a:cubicBezTo>
                  <a:cubicBezTo>
                    <a:pt x="814070" y="631825"/>
                    <a:pt x="631825" y="814070"/>
                    <a:pt x="407035" y="814070"/>
                  </a:cubicBezTo>
                  <a:lnTo>
                    <a:pt x="407035" y="797179"/>
                  </a:ln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lnTo>
                    <a:pt x="16891" y="407035"/>
                  </a:lnTo>
                  <a:lnTo>
                    <a:pt x="31242" y="416052"/>
                  </a:lnTo>
                  <a:cubicBezTo>
                    <a:pt x="27178" y="422402"/>
                    <a:pt x="19431" y="425450"/>
                    <a:pt x="12192" y="423291"/>
                  </a:cubicBezTo>
                  <a:cubicBezTo>
                    <a:pt x="4953" y="421132"/>
                    <a:pt x="0" y="414655"/>
                    <a:pt x="0" y="407035"/>
                  </a:cubicBezTo>
                  <a:moveTo>
                    <a:pt x="33909" y="407035"/>
                  </a:moveTo>
                  <a:lnTo>
                    <a:pt x="16891" y="407035"/>
                  </a:lnTo>
                  <a:lnTo>
                    <a:pt x="2540" y="398145"/>
                  </a:lnTo>
                  <a:cubicBezTo>
                    <a:pt x="6604" y="391795"/>
                    <a:pt x="14351" y="388747"/>
                    <a:pt x="21590" y="390906"/>
                  </a:cubicBezTo>
                  <a:cubicBezTo>
                    <a:pt x="28829" y="393065"/>
                    <a:pt x="33909" y="399669"/>
                    <a:pt x="33909" y="407162"/>
                  </a:cubicBezTo>
                  <a:cubicBezTo>
                    <a:pt x="33909" y="613283"/>
                    <a:pt x="201041" y="780415"/>
                    <a:pt x="407162" y="780415"/>
                  </a:cubicBezTo>
                  <a:cubicBezTo>
                    <a:pt x="613283" y="780415"/>
                    <a:pt x="780288" y="613156"/>
                    <a:pt x="780288" y="407035"/>
                  </a:cubicBezTo>
                  <a:lnTo>
                    <a:pt x="797179" y="407035"/>
                  </a:lnTo>
                  <a:lnTo>
                    <a:pt x="780288" y="407035"/>
                  </a:lnTo>
                  <a:cubicBezTo>
                    <a:pt x="780288" y="200914"/>
                    <a:pt x="613156" y="33782"/>
                    <a:pt x="407035" y="33782"/>
                  </a:cubicBezTo>
                  <a:lnTo>
                    <a:pt x="407035" y="16891"/>
                  </a:lnTo>
                  <a:lnTo>
                    <a:pt x="407035" y="33909"/>
                  </a:lnTo>
                  <a:cubicBezTo>
                    <a:pt x="200914" y="33909"/>
                    <a:pt x="33909" y="200914"/>
                    <a:pt x="33909" y="407035"/>
                  </a:cubicBezTo>
                  <a:close/>
                </a:path>
              </a:pathLst>
            </a:custGeom>
            <a:solidFill>
              <a:srgbClr val="4ECDC4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2252960" y="6419088"/>
            <a:ext cx="585216" cy="585216"/>
            <a:chOff x="0" y="0"/>
            <a:chExt cx="780288" cy="78028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28575"/>
              <a:ext cx="78028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F1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2984480" y="6455664"/>
            <a:ext cx="4937760" cy="512064"/>
            <a:chOff x="0" y="0"/>
            <a:chExt cx="6583680" cy="68275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57150"/>
              <a:ext cx="65836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A3A8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8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1371600"/>
            <a:chOff x="0" y="0"/>
            <a:chExt cx="219456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19456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|  Project Overview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645920"/>
            <a:ext cx="10607040" cy="2011680"/>
            <a:chOff x="0" y="0"/>
            <a:chExt cx="14142720" cy="2682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1427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739" r="0" b="-5273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14272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D3A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ShopMate AI is an advanced intelligent retail recommendation system that transforms how users discover products online. Unlike keyword-based search, it leverages modern AI to understand intent, personalize suggestions, and deliver real-time context-aware recommendations.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3827783"/>
            <a:ext cx="3865883" cy="2768603"/>
            <a:chOff x="0" y="0"/>
            <a:chExt cx="5154511" cy="36914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120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A3A8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54422" cy="3691382"/>
            </a:xfrm>
            <a:custGeom>
              <a:avLst/>
              <a:gdLst/>
              <a:ahLst/>
              <a:cxnLst/>
              <a:rect r="r" b="b" t="t" l="l"/>
              <a:pathLst>
                <a:path h="369138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3674491"/>
                  </a:lnTo>
                  <a:cubicBezTo>
                    <a:pt x="5154422" y="3683889"/>
                    <a:pt x="5146802" y="3691382"/>
                    <a:pt x="513753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5137531" y="3657600"/>
                  </a:lnTo>
                  <a:lnTo>
                    <a:pt x="5137531" y="3674491"/>
                  </a:lnTo>
                  <a:lnTo>
                    <a:pt x="5120640" y="36744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8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3931920"/>
            <a:ext cx="731520" cy="731520"/>
            <a:chOff x="0" y="0"/>
            <a:chExt cx="97536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97536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4663440"/>
            <a:ext cx="3657600" cy="731520"/>
            <a:chOff x="0" y="0"/>
            <a:chExt cx="487680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7680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8768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Memory Layer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5394960"/>
            <a:ext cx="3657600" cy="1097280"/>
            <a:chOff x="0" y="0"/>
            <a:chExt cx="487680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7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8768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D0EA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Extracts &amp; stores user preferences, budget, history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559303" y="5107943"/>
            <a:ext cx="391163" cy="135131"/>
            <a:chOff x="0" y="0"/>
            <a:chExt cx="521551" cy="1801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487680" cy="146304"/>
            </a:xfrm>
            <a:custGeom>
              <a:avLst/>
              <a:gdLst/>
              <a:ahLst/>
              <a:cxnLst/>
              <a:rect r="r" b="b" t="t" l="l"/>
              <a:pathLst>
                <a:path h="146304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7B8DB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1462" cy="180088"/>
            </a:xfrm>
            <a:custGeom>
              <a:avLst/>
              <a:gdLst/>
              <a:ahLst/>
              <a:cxnLst/>
              <a:rect r="r" b="b" t="t" l="l"/>
              <a:pathLst>
                <a:path h="180088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163195"/>
                  </a:lnTo>
                  <a:cubicBezTo>
                    <a:pt x="521462" y="172593"/>
                    <a:pt x="513842" y="180086"/>
                    <a:pt x="50457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504571" y="146304"/>
                  </a:lnTo>
                  <a:lnTo>
                    <a:pt x="504571" y="163195"/>
                  </a:lnTo>
                  <a:lnTo>
                    <a:pt x="487680" y="163195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8DB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925063" y="3827783"/>
            <a:ext cx="3865883" cy="2768603"/>
            <a:chOff x="0" y="0"/>
            <a:chExt cx="5154511" cy="36914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5120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54422" cy="3691382"/>
            </a:xfrm>
            <a:custGeom>
              <a:avLst/>
              <a:gdLst/>
              <a:ahLst/>
              <a:cxnLst/>
              <a:rect r="r" b="b" t="t" l="l"/>
              <a:pathLst>
                <a:path h="369138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3674491"/>
                  </a:lnTo>
                  <a:cubicBezTo>
                    <a:pt x="5154422" y="3683889"/>
                    <a:pt x="5146802" y="3691382"/>
                    <a:pt x="513753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5137531" y="3657600"/>
                  </a:lnTo>
                  <a:lnTo>
                    <a:pt x="5137531" y="3674491"/>
                  </a:lnTo>
                  <a:lnTo>
                    <a:pt x="5120640" y="36744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937760" y="3931920"/>
            <a:ext cx="731520" cy="731520"/>
            <a:chOff x="0" y="0"/>
            <a:chExt cx="97536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97536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029200" y="4663440"/>
            <a:ext cx="3657600" cy="731520"/>
            <a:chOff x="0" y="0"/>
            <a:chExt cx="4876800" cy="975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7680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48768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Crawler Layer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029200" y="5394960"/>
            <a:ext cx="3657600" cy="1097280"/>
            <a:chOff x="0" y="0"/>
            <a:chExt cx="4876800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7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8768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D0EA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product data from Amazon &amp; Flipkart via Firecrawl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765543" y="5107943"/>
            <a:ext cx="391163" cy="135131"/>
            <a:chOff x="0" y="0"/>
            <a:chExt cx="521551" cy="18017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487680" cy="146304"/>
            </a:xfrm>
            <a:custGeom>
              <a:avLst/>
              <a:gdLst/>
              <a:ahLst/>
              <a:cxnLst/>
              <a:rect r="r" b="b" t="t" l="l"/>
              <a:pathLst>
                <a:path h="146304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7B8DB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21462" cy="180088"/>
            </a:xfrm>
            <a:custGeom>
              <a:avLst/>
              <a:gdLst/>
              <a:ahLst/>
              <a:cxnLst/>
              <a:rect r="r" b="b" t="t" l="l"/>
              <a:pathLst>
                <a:path h="180088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163195"/>
                  </a:lnTo>
                  <a:cubicBezTo>
                    <a:pt x="521462" y="172593"/>
                    <a:pt x="513842" y="180086"/>
                    <a:pt x="50457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504571" y="146304"/>
                  </a:lnTo>
                  <a:lnTo>
                    <a:pt x="504571" y="163195"/>
                  </a:lnTo>
                  <a:lnTo>
                    <a:pt x="487680" y="163195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8DB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131303" y="3827783"/>
            <a:ext cx="3865883" cy="2768603"/>
            <a:chOff x="0" y="0"/>
            <a:chExt cx="5154511" cy="36914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5120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00B894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54422" cy="3691382"/>
            </a:xfrm>
            <a:custGeom>
              <a:avLst/>
              <a:gdLst/>
              <a:ahLst/>
              <a:cxnLst/>
              <a:rect r="r" b="b" t="t" l="l"/>
              <a:pathLst>
                <a:path h="369138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3674491"/>
                  </a:lnTo>
                  <a:cubicBezTo>
                    <a:pt x="5154422" y="3683889"/>
                    <a:pt x="5146802" y="3691382"/>
                    <a:pt x="513753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5137531" y="3657600"/>
                  </a:lnTo>
                  <a:lnTo>
                    <a:pt x="5137531" y="3674491"/>
                  </a:lnTo>
                  <a:lnTo>
                    <a:pt x="5120640" y="36744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894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144000" y="3931920"/>
            <a:ext cx="731520" cy="731520"/>
            <a:chOff x="0" y="0"/>
            <a:chExt cx="975360" cy="975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76200"/>
              <a:ext cx="97536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235440" y="4663440"/>
            <a:ext cx="3657600" cy="731520"/>
            <a:chOff x="0" y="0"/>
            <a:chExt cx="4876800" cy="975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7680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48768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Processing Layer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235440" y="5394960"/>
            <a:ext cx="3657600" cy="1097280"/>
            <a:chOff x="0" y="0"/>
            <a:chExt cx="4876800" cy="1463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7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8768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D0EA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Filters &amp; ranks products by budget, rating, value-for-money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971783" y="5107943"/>
            <a:ext cx="391163" cy="135131"/>
            <a:chOff x="0" y="0"/>
            <a:chExt cx="521551" cy="18017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487680" cy="146304"/>
            </a:xfrm>
            <a:custGeom>
              <a:avLst/>
              <a:gdLst/>
              <a:ahLst/>
              <a:cxnLst/>
              <a:rect r="r" b="b" t="t" l="l"/>
              <a:pathLst>
                <a:path h="146304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7B8DB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21462" cy="180088"/>
            </a:xfrm>
            <a:custGeom>
              <a:avLst/>
              <a:gdLst/>
              <a:ahLst/>
              <a:cxnLst/>
              <a:rect r="r" b="b" t="t" l="l"/>
              <a:pathLst>
                <a:path h="180088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163195"/>
                  </a:lnTo>
                  <a:cubicBezTo>
                    <a:pt x="521462" y="172593"/>
                    <a:pt x="513842" y="180086"/>
                    <a:pt x="50457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504571" y="146304"/>
                  </a:lnTo>
                  <a:lnTo>
                    <a:pt x="504571" y="163195"/>
                  </a:lnTo>
                  <a:lnTo>
                    <a:pt x="487680" y="163195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8DB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337543" y="3827783"/>
            <a:ext cx="3865883" cy="2768603"/>
            <a:chOff x="0" y="0"/>
            <a:chExt cx="5154511" cy="369147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5120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6C3483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154422" cy="3691382"/>
            </a:xfrm>
            <a:custGeom>
              <a:avLst/>
              <a:gdLst/>
              <a:ahLst/>
              <a:cxnLst/>
              <a:rect r="r" b="b" t="t" l="l"/>
              <a:pathLst>
                <a:path h="369138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3674491"/>
                  </a:lnTo>
                  <a:cubicBezTo>
                    <a:pt x="5154422" y="3683889"/>
                    <a:pt x="5146802" y="3691382"/>
                    <a:pt x="513753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5137531" y="3657600"/>
                  </a:lnTo>
                  <a:lnTo>
                    <a:pt x="5137531" y="3674491"/>
                  </a:lnTo>
                  <a:lnTo>
                    <a:pt x="5120640" y="36744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C3483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350240" y="3931920"/>
            <a:ext cx="731520" cy="731520"/>
            <a:chOff x="0" y="0"/>
            <a:chExt cx="975360" cy="9753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76200"/>
              <a:ext cx="97536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441680" y="4663440"/>
            <a:ext cx="3657600" cy="731520"/>
            <a:chOff x="0" y="0"/>
            <a:chExt cx="4876800" cy="9753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87680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48768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Recommendation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441680" y="5394960"/>
            <a:ext cx="3657600" cy="1097280"/>
            <a:chOff x="0" y="0"/>
            <a:chExt cx="4876800" cy="14630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7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8768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D0EA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Gemini AI generates human-like personalized suggestions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14400" y="6858000"/>
            <a:ext cx="16459200" cy="640080"/>
            <a:chOff x="0" y="0"/>
            <a:chExt cx="21945600" cy="853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A3A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Highlights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27106" y="7498080"/>
            <a:ext cx="16459200" cy="2011680"/>
            <a:chOff x="0" y="0"/>
            <a:chExt cx="21945600" cy="26822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2194560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3D4F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Natural-language queries like 'wireless headphones under Rs5000' fully understood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3D4F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Continuous learning from interactions without sign-up or explicit profiles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3D4F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web-scraped data ensures current prices &amp; availability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3D4F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Robust fallback mechanism guarantees results even during API failures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D6303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6303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1371600"/>
            <a:chOff x="0" y="0"/>
            <a:chExt cx="219456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19456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|  Problem Statement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8823" y="1724663"/>
            <a:ext cx="8255003" cy="2402843"/>
            <a:chOff x="0" y="0"/>
            <a:chExt cx="11006671" cy="32037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9728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065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186811"/>
                  </a:lnTo>
                  <a:cubicBezTo>
                    <a:pt x="11006582" y="3196209"/>
                    <a:pt x="10998962" y="3203702"/>
                    <a:pt x="1098969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10989691" y="3169920"/>
                  </a:lnTo>
                  <a:lnTo>
                    <a:pt x="10989691" y="3186811"/>
                  </a:lnTo>
                  <a:lnTo>
                    <a:pt x="10972800" y="31868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CCC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18823" y="1724663"/>
            <a:ext cx="135131" cy="2402843"/>
            <a:chOff x="0" y="0"/>
            <a:chExt cx="180175" cy="32037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46304" cy="3169920"/>
            </a:xfrm>
            <a:custGeom>
              <a:avLst/>
              <a:gdLst/>
              <a:ahLst/>
              <a:cxnLst/>
              <a:rect r="r" b="b" t="t" l="l"/>
              <a:pathLst>
                <a:path h="31699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D6303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086" cy="3203702"/>
            </a:xfrm>
            <a:custGeom>
              <a:avLst/>
              <a:gdLst/>
              <a:ahLst/>
              <a:cxnLst/>
              <a:rect r="r" b="b" t="t" l="l"/>
              <a:pathLst>
                <a:path h="32037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186811"/>
                  </a:lnTo>
                  <a:cubicBezTo>
                    <a:pt x="180086" y="3196209"/>
                    <a:pt x="172466" y="3203702"/>
                    <a:pt x="163195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163195" y="3169920"/>
                  </a:lnTo>
                  <a:lnTo>
                    <a:pt x="163195" y="3186811"/>
                  </a:lnTo>
                  <a:lnTo>
                    <a:pt x="146304" y="31868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6303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05840" y="1956816"/>
            <a:ext cx="7680960" cy="548640"/>
            <a:chOff x="0" y="0"/>
            <a:chExt cx="1024128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241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Keyword-Based Search Fails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5840" y="2560320"/>
            <a:ext cx="7772400" cy="1371600"/>
            <a:chOff x="0" y="0"/>
            <a:chExt cx="10363200" cy="1828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63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363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Traditional platforms use static keyword search that doesn't understand user intent, returning generic, irrelevant results.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97063" y="1724663"/>
            <a:ext cx="8255003" cy="2402843"/>
            <a:chOff x="0" y="0"/>
            <a:chExt cx="11006671" cy="32037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09728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065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186811"/>
                  </a:lnTo>
                  <a:cubicBezTo>
                    <a:pt x="11006582" y="3196209"/>
                    <a:pt x="10998962" y="3203702"/>
                    <a:pt x="1098969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10989691" y="3169920"/>
                  </a:lnTo>
                  <a:lnTo>
                    <a:pt x="10989691" y="3186811"/>
                  </a:lnTo>
                  <a:lnTo>
                    <a:pt x="10972800" y="31868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CCC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497063" y="1724663"/>
            <a:ext cx="135131" cy="2402843"/>
            <a:chOff x="0" y="0"/>
            <a:chExt cx="180175" cy="32037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46304" cy="3169920"/>
            </a:xfrm>
            <a:custGeom>
              <a:avLst/>
              <a:gdLst/>
              <a:ahLst/>
              <a:cxnLst/>
              <a:rect r="r" b="b" t="t" l="l"/>
              <a:pathLst>
                <a:path h="31699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D6303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0086" cy="3203702"/>
            </a:xfrm>
            <a:custGeom>
              <a:avLst/>
              <a:gdLst/>
              <a:ahLst/>
              <a:cxnLst/>
              <a:rect r="r" b="b" t="t" l="l"/>
              <a:pathLst>
                <a:path h="32037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186811"/>
                  </a:lnTo>
                  <a:cubicBezTo>
                    <a:pt x="180086" y="3196209"/>
                    <a:pt x="172466" y="3203702"/>
                    <a:pt x="163195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163195" y="3169920"/>
                  </a:lnTo>
                  <a:lnTo>
                    <a:pt x="163195" y="3186811"/>
                  </a:lnTo>
                  <a:lnTo>
                    <a:pt x="146304" y="31868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6303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784080" y="1956816"/>
            <a:ext cx="7680960" cy="548640"/>
            <a:chOff x="0" y="0"/>
            <a:chExt cx="1024128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241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Information Overload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84080" y="2560320"/>
            <a:ext cx="7772400" cy="1371600"/>
            <a:chOff x="0" y="0"/>
            <a:chExt cx="10363200" cy="1828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363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363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Users are presented with hundreds of products, many irrelevant, causing confusion and decision fatigue.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18823" y="4467863"/>
            <a:ext cx="8255003" cy="2402843"/>
            <a:chOff x="0" y="0"/>
            <a:chExt cx="11006671" cy="32037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09728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0065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186811"/>
                  </a:lnTo>
                  <a:cubicBezTo>
                    <a:pt x="11006582" y="3196209"/>
                    <a:pt x="10998962" y="3203702"/>
                    <a:pt x="1098969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10989691" y="3169920"/>
                  </a:lnTo>
                  <a:lnTo>
                    <a:pt x="10989691" y="3186811"/>
                  </a:lnTo>
                  <a:lnTo>
                    <a:pt x="10972800" y="31868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CCCC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18823" y="4467863"/>
            <a:ext cx="135131" cy="2402843"/>
            <a:chOff x="0" y="0"/>
            <a:chExt cx="180175" cy="32037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46304" cy="3169920"/>
            </a:xfrm>
            <a:custGeom>
              <a:avLst/>
              <a:gdLst/>
              <a:ahLst/>
              <a:cxnLst/>
              <a:rect r="r" b="b" t="t" l="l"/>
              <a:pathLst>
                <a:path h="31699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D63031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0086" cy="3203702"/>
            </a:xfrm>
            <a:custGeom>
              <a:avLst/>
              <a:gdLst/>
              <a:ahLst/>
              <a:cxnLst/>
              <a:rect r="r" b="b" t="t" l="l"/>
              <a:pathLst>
                <a:path h="32037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186811"/>
                  </a:lnTo>
                  <a:cubicBezTo>
                    <a:pt x="180086" y="3196209"/>
                    <a:pt x="172466" y="3203702"/>
                    <a:pt x="163195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163195" y="3169920"/>
                  </a:lnTo>
                  <a:lnTo>
                    <a:pt x="163195" y="3186811"/>
                  </a:lnTo>
                  <a:lnTo>
                    <a:pt x="146304" y="31868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63031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05840" y="4700016"/>
            <a:ext cx="7680960" cy="548640"/>
            <a:chOff x="0" y="0"/>
            <a:chExt cx="1024128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241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Manual Filtering is Tedious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05840" y="5303520"/>
            <a:ext cx="7772400" cy="1371600"/>
            <a:chOff x="0" y="0"/>
            <a:chExt cx="10363200" cy="1828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363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363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Without personalization, users must manually filter, compare, and analyze products — time-consuming and frustrating.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497063" y="4467863"/>
            <a:ext cx="8255003" cy="2402843"/>
            <a:chOff x="0" y="0"/>
            <a:chExt cx="11006671" cy="320379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09728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0065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186811"/>
                  </a:lnTo>
                  <a:cubicBezTo>
                    <a:pt x="11006582" y="3196209"/>
                    <a:pt x="10998962" y="3203702"/>
                    <a:pt x="1098969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10989691" y="3169920"/>
                  </a:lnTo>
                  <a:lnTo>
                    <a:pt x="10989691" y="3186811"/>
                  </a:lnTo>
                  <a:lnTo>
                    <a:pt x="10972800" y="31868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CCC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497063" y="4467863"/>
            <a:ext cx="135131" cy="2402843"/>
            <a:chOff x="0" y="0"/>
            <a:chExt cx="180175" cy="320379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46304" cy="3169920"/>
            </a:xfrm>
            <a:custGeom>
              <a:avLst/>
              <a:gdLst/>
              <a:ahLst/>
              <a:cxnLst/>
              <a:rect r="r" b="b" t="t" l="l"/>
              <a:pathLst>
                <a:path h="31699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D63031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0086" cy="3203702"/>
            </a:xfrm>
            <a:custGeom>
              <a:avLst/>
              <a:gdLst/>
              <a:ahLst/>
              <a:cxnLst/>
              <a:rect r="r" b="b" t="t" l="l"/>
              <a:pathLst>
                <a:path h="32037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186811"/>
                  </a:lnTo>
                  <a:cubicBezTo>
                    <a:pt x="180086" y="3196209"/>
                    <a:pt x="172466" y="3203702"/>
                    <a:pt x="163195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163195" y="3169920"/>
                  </a:lnTo>
                  <a:lnTo>
                    <a:pt x="163195" y="3186811"/>
                  </a:lnTo>
                  <a:lnTo>
                    <a:pt x="146304" y="31868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63031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784080" y="4700016"/>
            <a:ext cx="7680960" cy="548640"/>
            <a:chOff x="0" y="0"/>
            <a:chExt cx="1024128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241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Heavy ML Infrastructure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784080" y="5303520"/>
            <a:ext cx="7772400" cy="1371600"/>
            <a:chOff x="0" y="0"/>
            <a:chExt cx="10363200" cy="1828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363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363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Existing recommendation systems require large datasets, complex ML models, and high compute — too expensive for small teams.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18823" y="7211063"/>
            <a:ext cx="8255003" cy="2402843"/>
            <a:chOff x="0" y="0"/>
            <a:chExt cx="11006671" cy="320379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09728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0065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186811"/>
                  </a:lnTo>
                  <a:cubicBezTo>
                    <a:pt x="11006582" y="3196209"/>
                    <a:pt x="10998962" y="3203702"/>
                    <a:pt x="1098969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10989691" y="3169920"/>
                  </a:lnTo>
                  <a:lnTo>
                    <a:pt x="10989691" y="3186811"/>
                  </a:lnTo>
                  <a:lnTo>
                    <a:pt x="10972800" y="31868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CCCC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18823" y="7211063"/>
            <a:ext cx="135131" cy="2402843"/>
            <a:chOff x="0" y="0"/>
            <a:chExt cx="180175" cy="320379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46304" cy="3169920"/>
            </a:xfrm>
            <a:custGeom>
              <a:avLst/>
              <a:gdLst/>
              <a:ahLst/>
              <a:cxnLst/>
              <a:rect r="r" b="b" t="t" l="l"/>
              <a:pathLst>
                <a:path h="31699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D63031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80086" cy="3203702"/>
            </a:xfrm>
            <a:custGeom>
              <a:avLst/>
              <a:gdLst/>
              <a:ahLst/>
              <a:cxnLst/>
              <a:rect r="r" b="b" t="t" l="l"/>
              <a:pathLst>
                <a:path h="32037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186811"/>
                  </a:lnTo>
                  <a:cubicBezTo>
                    <a:pt x="180086" y="3196209"/>
                    <a:pt x="172466" y="3203702"/>
                    <a:pt x="163195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163195" y="3169920"/>
                  </a:lnTo>
                  <a:lnTo>
                    <a:pt x="163195" y="3186811"/>
                  </a:lnTo>
                  <a:lnTo>
                    <a:pt x="146304" y="31868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63031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05840" y="7443216"/>
            <a:ext cx="7680960" cy="548640"/>
            <a:chOff x="0" y="0"/>
            <a:chExt cx="1024128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0241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Personalization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05840" y="8046720"/>
            <a:ext cx="7772400" cy="1371600"/>
            <a:chOff x="0" y="0"/>
            <a:chExt cx="10363200" cy="1828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363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363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Systems don't remember user preferences across sessions, forcing repeated manual specification of requirements.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497063" y="7211063"/>
            <a:ext cx="8255003" cy="2402843"/>
            <a:chOff x="0" y="0"/>
            <a:chExt cx="11006671" cy="320379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09728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0065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186811"/>
                  </a:lnTo>
                  <a:cubicBezTo>
                    <a:pt x="11006582" y="3196209"/>
                    <a:pt x="10998962" y="3203702"/>
                    <a:pt x="1098969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10989691" y="3169920"/>
                  </a:lnTo>
                  <a:lnTo>
                    <a:pt x="10989691" y="3186811"/>
                  </a:lnTo>
                  <a:lnTo>
                    <a:pt x="10972800" y="31868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CCCC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497063" y="7211063"/>
            <a:ext cx="135131" cy="2402843"/>
            <a:chOff x="0" y="0"/>
            <a:chExt cx="180175" cy="320379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46304" cy="3169920"/>
            </a:xfrm>
            <a:custGeom>
              <a:avLst/>
              <a:gdLst/>
              <a:ahLst/>
              <a:cxnLst/>
              <a:rect r="r" b="b" t="t" l="l"/>
              <a:pathLst>
                <a:path h="31699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D63031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80086" cy="3203702"/>
            </a:xfrm>
            <a:custGeom>
              <a:avLst/>
              <a:gdLst/>
              <a:ahLst/>
              <a:cxnLst/>
              <a:rect r="r" b="b" t="t" l="l"/>
              <a:pathLst>
                <a:path h="32037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186811"/>
                  </a:lnTo>
                  <a:cubicBezTo>
                    <a:pt x="180086" y="3196209"/>
                    <a:pt x="172466" y="3203702"/>
                    <a:pt x="163195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163195" y="3169920"/>
                  </a:lnTo>
                  <a:lnTo>
                    <a:pt x="163195" y="3186811"/>
                  </a:lnTo>
                  <a:lnTo>
                    <a:pt x="146304" y="31868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63031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784080" y="7443216"/>
            <a:ext cx="7680960" cy="548640"/>
            <a:chOff x="0" y="0"/>
            <a:chExt cx="1024128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0241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Stale Product Data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784080" y="8046720"/>
            <a:ext cx="7772400" cy="1371600"/>
            <a:chOff x="0" y="0"/>
            <a:chExt cx="10363200" cy="1828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363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0363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Catalogue-based systems don't reflect real-time price changes, leading to inaccurate recommendations.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1371600"/>
            <a:chOff x="0" y="0"/>
            <a:chExt cx="219456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19456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|  Objectives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8823" y="1998983"/>
            <a:ext cx="1031243" cy="1031243"/>
            <a:chOff x="0" y="0"/>
            <a:chExt cx="1374991" cy="1374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31520" y="2011680"/>
            <a:ext cx="1005840" cy="1005840"/>
            <a:chOff x="0" y="0"/>
            <a:chExt cx="1341120" cy="1341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411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998983" y="1816103"/>
            <a:ext cx="15570203" cy="1854203"/>
            <a:chOff x="0" y="0"/>
            <a:chExt cx="20760271" cy="24722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07263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0726399">
                  <a:moveTo>
                    <a:pt x="0" y="0"/>
                  </a:moveTo>
                  <a:lnTo>
                    <a:pt x="20726399" y="0"/>
                  </a:lnTo>
                  <a:lnTo>
                    <a:pt x="207263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7601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0760182">
                  <a:moveTo>
                    <a:pt x="16891" y="0"/>
                  </a:moveTo>
                  <a:lnTo>
                    <a:pt x="20743290" y="0"/>
                  </a:lnTo>
                  <a:cubicBezTo>
                    <a:pt x="20752690" y="0"/>
                    <a:pt x="20760182" y="7620"/>
                    <a:pt x="20760182" y="16891"/>
                  </a:cubicBezTo>
                  <a:lnTo>
                    <a:pt x="20760182" y="2455291"/>
                  </a:lnTo>
                  <a:cubicBezTo>
                    <a:pt x="20760182" y="2464689"/>
                    <a:pt x="20752563" y="2472182"/>
                    <a:pt x="207432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0743290" y="2438400"/>
                  </a:lnTo>
                  <a:lnTo>
                    <a:pt x="20743290" y="2455291"/>
                  </a:lnTo>
                  <a:lnTo>
                    <a:pt x="20726400" y="2455291"/>
                  </a:lnTo>
                  <a:lnTo>
                    <a:pt x="20726400" y="16891"/>
                  </a:lnTo>
                  <a:lnTo>
                    <a:pt x="20743290" y="16891"/>
                  </a:lnTo>
                  <a:lnTo>
                    <a:pt x="20743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E8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286000" y="1883664"/>
            <a:ext cx="14996160" cy="585216"/>
            <a:chOff x="0" y="0"/>
            <a:chExt cx="19994880" cy="780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994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9304" r="0" b="-44930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994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Intelligent Query Understanding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286000" y="2468880"/>
            <a:ext cx="14996160" cy="1060704"/>
            <a:chOff x="0" y="0"/>
            <a:chExt cx="19994880" cy="14142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9948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478" r="0" b="-22547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999488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Develop an AI-driven system that analyzes natural-language queries, extracts budget and category preferences, and delivers meaningful personalized recommendations.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18823" y="4102103"/>
            <a:ext cx="1031243" cy="1031243"/>
            <a:chOff x="0" y="0"/>
            <a:chExt cx="1374991" cy="13749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31520" y="4114800"/>
            <a:ext cx="1005840" cy="1005840"/>
            <a:chOff x="0" y="0"/>
            <a:chExt cx="1341120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3411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998983" y="3919223"/>
            <a:ext cx="15570203" cy="1854203"/>
            <a:chOff x="0" y="0"/>
            <a:chExt cx="20760271" cy="24722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207263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0726399">
                  <a:moveTo>
                    <a:pt x="0" y="0"/>
                  </a:moveTo>
                  <a:lnTo>
                    <a:pt x="20726399" y="0"/>
                  </a:lnTo>
                  <a:lnTo>
                    <a:pt x="207263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7601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0760182">
                  <a:moveTo>
                    <a:pt x="16891" y="0"/>
                  </a:moveTo>
                  <a:lnTo>
                    <a:pt x="20743290" y="0"/>
                  </a:lnTo>
                  <a:cubicBezTo>
                    <a:pt x="20752690" y="0"/>
                    <a:pt x="20760182" y="7620"/>
                    <a:pt x="20760182" y="16891"/>
                  </a:cubicBezTo>
                  <a:lnTo>
                    <a:pt x="20760182" y="2455291"/>
                  </a:lnTo>
                  <a:cubicBezTo>
                    <a:pt x="20760182" y="2464689"/>
                    <a:pt x="20752563" y="2472182"/>
                    <a:pt x="207432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0743290" y="2438400"/>
                  </a:lnTo>
                  <a:lnTo>
                    <a:pt x="20743290" y="2455291"/>
                  </a:lnTo>
                  <a:lnTo>
                    <a:pt x="20726400" y="2455291"/>
                  </a:lnTo>
                  <a:lnTo>
                    <a:pt x="20726400" y="16891"/>
                  </a:lnTo>
                  <a:lnTo>
                    <a:pt x="20743290" y="16891"/>
                  </a:lnTo>
                  <a:lnTo>
                    <a:pt x="20743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E8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286000" y="3986784"/>
            <a:ext cx="14996160" cy="585216"/>
            <a:chOff x="0" y="0"/>
            <a:chExt cx="19994880" cy="7802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994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9304" r="0" b="-44930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9994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Data Integration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286000" y="4572000"/>
            <a:ext cx="14996160" cy="1060704"/>
            <a:chOff x="0" y="0"/>
            <a:chExt cx="19994880" cy="14142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9948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478" r="0" b="-22547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999488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Leverage Firecrawl + Google Gemini to provide up-to-date, context-aware recommendations reflecting current pricing and availability from Amazon &amp; Flipkart.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18823" y="6205223"/>
            <a:ext cx="1031243" cy="1031243"/>
            <a:chOff x="0" y="0"/>
            <a:chExt cx="1374991" cy="13749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31520" y="6217920"/>
            <a:ext cx="1005840" cy="1005840"/>
            <a:chOff x="0" y="0"/>
            <a:chExt cx="1341120" cy="13411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3411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998983" y="6022343"/>
            <a:ext cx="15570203" cy="1854203"/>
            <a:chOff x="0" y="0"/>
            <a:chExt cx="20760271" cy="24722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207263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0726399">
                  <a:moveTo>
                    <a:pt x="0" y="0"/>
                  </a:moveTo>
                  <a:lnTo>
                    <a:pt x="20726399" y="0"/>
                  </a:lnTo>
                  <a:lnTo>
                    <a:pt x="207263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7601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0760182">
                  <a:moveTo>
                    <a:pt x="16891" y="0"/>
                  </a:moveTo>
                  <a:lnTo>
                    <a:pt x="20743290" y="0"/>
                  </a:lnTo>
                  <a:cubicBezTo>
                    <a:pt x="20752690" y="0"/>
                    <a:pt x="20760182" y="7620"/>
                    <a:pt x="20760182" y="16891"/>
                  </a:cubicBezTo>
                  <a:lnTo>
                    <a:pt x="20760182" y="2455291"/>
                  </a:lnTo>
                  <a:cubicBezTo>
                    <a:pt x="20760182" y="2464689"/>
                    <a:pt x="20752563" y="2472182"/>
                    <a:pt x="207432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0743290" y="2438400"/>
                  </a:lnTo>
                  <a:lnTo>
                    <a:pt x="20743290" y="2455291"/>
                  </a:lnTo>
                  <a:lnTo>
                    <a:pt x="20726400" y="2455291"/>
                  </a:lnTo>
                  <a:lnTo>
                    <a:pt x="20726400" y="16891"/>
                  </a:lnTo>
                  <a:lnTo>
                    <a:pt x="20743290" y="16891"/>
                  </a:lnTo>
                  <a:lnTo>
                    <a:pt x="20743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E8F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2286000" y="6089904"/>
            <a:ext cx="14996160" cy="585216"/>
            <a:chOff x="0" y="0"/>
            <a:chExt cx="19994880" cy="7802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994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9304" r="0" b="-44930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9994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Persistent Cross-Session Memory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286000" y="6675120"/>
            <a:ext cx="14996160" cy="1060704"/>
            <a:chOff x="0" y="0"/>
            <a:chExt cx="19994880" cy="141427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9948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478" r="0" b="-22547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999488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a Memento-style memory engine delivering tailored recommendations across sessions without requiring user accounts or complex database infrastructure.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18823" y="8308343"/>
            <a:ext cx="1031243" cy="1031243"/>
            <a:chOff x="0" y="0"/>
            <a:chExt cx="1374991" cy="137499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731520" y="8321040"/>
            <a:ext cx="1005840" cy="1005840"/>
            <a:chOff x="0" y="0"/>
            <a:chExt cx="1341120" cy="13411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3411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998983" y="8125463"/>
            <a:ext cx="15570203" cy="1854203"/>
            <a:chOff x="0" y="0"/>
            <a:chExt cx="20760271" cy="247227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07263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0726399">
                  <a:moveTo>
                    <a:pt x="0" y="0"/>
                  </a:moveTo>
                  <a:lnTo>
                    <a:pt x="20726399" y="0"/>
                  </a:lnTo>
                  <a:lnTo>
                    <a:pt x="207263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7601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0760182">
                  <a:moveTo>
                    <a:pt x="16891" y="0"/>
                  </a:moveTo>
                  <a:lnTo>
                    <a:pt x="20743290" y="0"/>
                  </a:lnTo>
                  <a:cubicBezTo>
                    <a:pt x="20752690" y="0"/>
                    <a:pt x="20760182" y="7620"/>
                    <a:pt x="20760182" y="16891"/>
                  </a:cubicBezTo>
                  <a:lnTo>
                    <a:pt x="20760182" y="2455291"/>
                  </a:lnTo>
                  <a:cubicBezTo>
                    <a:pt x="20760182" y="2464689"/>
                    <a:pt x="20752563" y="2472182"/>
                    <a:pt x="207432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0743290" y="2438400"/>
                  </a:lnTo>
                  <a:lnTo>
                    <a:pt x="20743290" y="2455291"/>
                  </a:lnTo>
                  <a:lnTo>
                    <a:pt x="20726400" y="2455291"/>
                  </a:lnTo>
                  <a:lnTo>
                    <a:pt x="20726400" y="16891"/>
                  </a:lnTo>
                  <a:lnTo>
                    <a:pt x="20743290" y="16891"/>
                  </a:lnTo>
                  <a:lnTo>
                    <a:pt x="20743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E8F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2286000" y="8193024"/>
            <a:ext cx="14996160" cy="585216"/>
            <a:chOff x="0" y="0"/>
            <a:chExt cx="19994880" cy="78028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9994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9304" r="0" b="-44930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9994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Scalable Lightweight Architecture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286000" y="8778240"/>
            <a:ext cx="14996160" cy="1060704"/>
            <a:chOff x="0" y="0"/>
            <a:chExt cx="19994880" cy="141427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99948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478" r="0" b="-22547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999488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Demonstrate how FastAPI + Firecrawl API + Gemini AI can create a production-ready, intelligent application without heavy ML infrastructure.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A3A8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8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1371600"/>
            <a:chOff x="0" y="0"/>
            <a:chExt cx="219456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19456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|  Core Technologies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7383" y="1724663"/>
            <a:ext cx="3865883" cy="3683003"/>
            <a:chOff x="0" y="0"/>
            <a:chExt cx="5154511" cy="49106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51206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EEF3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54422" cy="4910582"/>
            </a:xfrm>
            <a:custGeom>
              <a:avLst/>
              <a:gdLst/>
              <a:ahLst/>
              <a:cxnLst/>
              <a:rect r="r" b="b" t="t" l="l"/>
              <a:pathLst>
                <a:path h="491058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4893691"/>
                  </a:lnTo>
                  <a:cubicBezTo>
                    <a:pt x="5154422" y="4903089"/>
                    <a:pt x="5146802" y="4910582"/>
                    <a:pt x="513753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5137531" y="4876800"/>
                  </a:lnTo>
                  <a:lnTo>
                    <a:pt x="5137531" y="4893691"/>
                  </a:lnTo>
                  <a:lnTo>
                    <a:pt x="5120640" y="48936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27383" y="1724663"/>
            <a:ext cx="3865883" cy="848363"/>
            <a:chOff x="0" y="0"/>
            <a:chExt cx="5154511" cy="1131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3572A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544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114171"/>
                  </a:lnTo>
                  <a:cubicBezTo>
                    <a:pt x="5154422" y="1123569"/>
                    <a:pt x="5146802" y="1131062"/>
                    <a:pt x="51375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5137531" y="1097280"/>
                  </a:lnTo>
                  <a:lnTo>
                    <a:pt x="5137531" y="1114171"/>
                  </a:lnTo>
                  <a:lnTo>
                    <a:pt x="5120640" y="111417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572A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1773936"/>
            <a:ext cx="3657600" cy="768096"/>
            <a:chOff x="0" y="0"/>
            <a:chExt cx="4876800" cy="1024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876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 3.10+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77824" y="2741295"/>
            <a:ext cx="338328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3A4A5A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 logic, data processing, AI integration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888487" y="1724663"/>
            <a:ext cx="3865883" cy="3683003"/>
            <a:chOff x="0" y="0"/>
            <a:chExt cx="5154511" cy="49106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51206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EEF3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54422" cy="4910582"/>
            </a:xfrm>
            <a:custGeom>
              <a:avLst/>
              <a:gdLst/>
              <a:ahLst/>
              <a:cxnLst/>
              <a:rect r="r" b="b" t="t" l="l"/>
              <a:pathLst>
                <a:path h="491058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4893691"/>
                  </a:lnTo>
                  <a:cubicBezTo>
                    <a:pt x="5154422" y="4903089"/>
                    <a:pt x="5146802" y="4910582"/>
                    <a:pt x="513753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5137531" y="4876800"/>
                  </a:lnTo>
                  <a:lnTo>
                    <a:pt x="5137531" y="4893691"/>
                  </a:lnTo>
                  <a:lnTo>
                    <a:pt x="5120640" y="48936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888487" y="1724663"/>
            <a:ext cx="3865883" cy="848363"/>
            <a:chOff x="0" y="0"/>
            <a:chExt cx="5154511" cy="11311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09485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544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114171"/>
                  </a:lnTo>
                  <a:cubicBezTo>
                    <a:pt x="5154422" y="1123569"/>
                    <a:pt x="5146802" y="1131062"/>
                    <a:pt x="51375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5137531" y="1097280"/>
                  </a:lnTo>
                  <a:lnTo>
                    <a:pt x="5137531" y="1114171"/>
                  </a:lnTo>
                  <a:lnTo>
                    <a:pt x="5120640" y="111417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48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992624" y="1773936"/>
            <a:ext cx="3657600" cy="768096"/>
            <a:chOff x="0" y="0"/>
            <a:chExt cx="4876800" cy="10241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4876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FastAPI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138928" y="2741295"/>
            <a:ext cx="338328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3A4A5A"/>
                </a:solidFill>
                <a:latin typeface="Calibri (MS)"/>
                <a:ea typeface="Calibri (MS)"/>
                <a:cs typeface="Calibri (MS)"/>
                <a:sym typeface="Calibri (MS)"/>
              </a:rPr>
              <a:t>High-performance async API development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149591" y="1724663"/>
            <a:ext cx="3865883" cy="3683003"/>
            <a:chOff x="0" y="0"/>
            <a:chExt cx="5154511" cy="49106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51206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EEF3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54422" cy="4910582"/>
            </a:xfrm>
            <a:custGeom>
              <a:avLst/>
              <a:gdLst/>
              <a:ahLst/>
              <a:cxnLst/>
              <a:rect r="r" b="b" t="t" l="l"/>
              <a:pathLst>
                <a:path h="491058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4893691"/>
                  </a:lnTo>
                  <a:cubicBezTo>
                    <a:pt x="5154422" y="4903089"/>
                    <a:pt x="5146802" y="4910582"/>
                    <a:pt x="513753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5137531" y="4876800"/>
                  </a:lnTo>
                  <a:lnTo>
                    <a:pt x="5137531" y="4893691"/>
                  </a:lnTo>
                  <a:lnTo>
                    <a:pt x="5120640" y="48936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9591" y="1724663"/>
            <a:ext cx="3865883" cy="848363"/>
            <a:chOff x="0" y="0"/>
            <a:chExt cx="5154511" cy="11311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4285F4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544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114171"/>
                  </a:lnTo>
                  <a:cubicBezTo>
                    <a:pt x="5154422" y="1123569"/>
                    <a:pt x="5146802" y="1131062"/>
                    <a:pt x="51375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5137531" y="1097280"/>
                  </a:lnTo>
                  <a:lnTo>
                    <a:pt x="5137531" y="1114171"/>
                  </a:lnTo>
                  <a:lnTo>
                    <a:pt x="5120640" y="111417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253728" y="1773936"/>
            <a:ext cx="3657600" cy="768096"/>
            <a:chOff x="0" y="0"/>
            <a:chExt cx="4876800" cy="10241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4876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Google Gemini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2.5 Flash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400032" y="2741295"/>
            <a:ext cx="338328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3A4A5A"/>
                </a:solidFill>
                <a:latin typeface="Calibri (MS)"/>
                <a:ea typeface="Calibri (MS)"/>
                <a:cs typeface="Calibri (MS)"/>
                <a:sym typeface="Calibri (MS)"/>
              </a:rPr>
              <a:t>AI-powered recommendation generation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3410695" y="1724663"/>
            <a:ext cx="3865883" cy="3683003"/>
            <a:chOff x="0" y="0"/>
            <a:chExt cx="5154511" cy="491067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51206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EEF3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154422" cy="4910582"/>
            </a:xfrm>
            <a:custGeom>
              <a:avLst/>
              <a:gdLst/>
              <a:ahLst/>
              <a:cxnLst/>
              <a:rect r="r" b="b" t="t" l="l"/>
              <a:pathLst>
                <a:path h="491058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4893691"/>
                  </a:lnTo>
                  <a:cubicBezTo>
                    <a:pt x="5154422" y="4903089"/>
                    <a:pt x="5146802" y="4910582"/>
                    <a:pt x="513753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5137531" y="4876800"/>
                  </a:lnTo>
                  <a:lnTo>
                    <a:pt x="5137531" y="4893691"/>
                  </a:lnTo>
                  <a:lnTo>
                    <a:pt x="5120640" y="48936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410695" y="1724663"/>
            <a:ext cx="3865883" cy="848363"/>
            <a:chOff x="0" y="0"/>
            <a:chExt cx="5154511" cy="11311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E8521A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544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114171"/>
                  </a:lnTo>
                  <a:cubicBezTo>
                    <a:pt x="5154422" y="1123569"/>
                    <a:pt x="5146802" y="1131062"/>
                    <a:pt x="51375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5137531" y="1097280"/>
                  </a:lnTo>
                  <a:lnTo>
                    <a:pt x="5137531" y="1114171"/>
                  </a:lnTo>
                  <a:lnTo>
                    <a:pt x="5120640" y="111417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521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514832" y="1773936"/>
            <a:ext cx="3657600" cy="768096"/>
            <a:chOff x="0" y="0"/>
            <a:chExt cx="4876800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4876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Firecrawl API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3661136" y="2741295"/>
            <a:ext cx="338328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3A4A5A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scraping of Amazon &amp; Flipkart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627383" y="5839463"/>
            <a:ext cx="3865883" cy="3683003"/>
            <a:chOff x="0" y="0"/>
            <a:chExt cx="5154511" cy="491067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51206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EEF3FF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154422" cy="4910582"/>
            </a:xfrm>
            <a:custGeom>
              <a:avLst/>
              <a:gdLst/>
              <a:ahLst/>
              <a:cxnLst/>
              <a:rect r="r" b="b" t="t" l="l"/>
              <a:pathLst>
                <a:path h="491058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4893691"/>
                  </a:lnTo>
                  <a:cubicBezTo>
                    <a:pt x="5154422" y="4903089"/>
                    <a:pt x="5146802" y="4910582"/>
                    <a:pt x="513753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5137531" y="4876800"/>
                  </a:lnTo>
                  <a:lnTo>
                    <a:pt x="5137531" y="4893691"/>
                  </a:lnTo>
                  <a:lnTo>
                    <a:pt x="5120640" y="48936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627383" y="5839463"/>
            <a:ext cx="3865883" cy="848363"/>
            <a:chOff x="0" y="0"/>
            <a:chExt cx="5154511" cy="113115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6891" y="16891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6C3483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1544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114171"/>
                  </a:lnTo>
                  <a:cubicBezTo>
                    <a:pt x="5154422" y="1123569"/>
                    <a:pt x="5146802" y="1131062"/>
                    <a:pt x="51375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5137531" y="1097280"/>
                  </a:lnTo>
                  <a:lnTo>
                    <a:pt x="5137531" y="1114171"/>
                  </a:lnTo>
                  <a:lnTo>
                    <a:pt x="5120640" y="111417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C3483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31520" y="5888736"/>
            <a:ext cx="3657600" cy="768096"/>
            <a:chOff x="0" y="0"/>
            <a:chExt cx="4876800" cy="102412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4876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HTTPX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877824" y="6856095"/>
            <a:ext cx="338328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3A4A5A"/>
                </a:solidFill>
                <a:latin typeface="Calibri (MS)"/>
                <a:ea typeface="Calibri (MS)"/>
                <a:cs typeface="Calibri (MS)"/>
                <a:sym typeface="Calibri (MS)"/>
              </a:rPr>
              <a:t>Async HTTP client for external API calls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4888487" y="5839463"/>
            <a:ext cx="3865883" cy="3683003"/>
            <a:chOff x="0" y="0"/>
            <a:chExt cx="5154511" cy="491067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51206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EEF3FF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54422" cy="4910582"/>
            </a:xfrm>
            <a:custGeom>
              <a:avLst/>
              <a:gdLst/>
              <a:ahLst/>
              <a:cxnLst/>
              <a:rect r="r" b="b" t="t" l="l"/>
              <a:pathLst>
                <a:path h="491058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4893691"/>
                  </a:lnTo>
                  <a:cubicBezTo>
                    <a:pt x="5154422" y="4903089"/>
                    <a:pt x="5146802" y="4910582"/>
                    <a:pt x="513753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5137531" y="4876800"/>
                  </a:lnTo>
                  <a:lnTo>
                    <a:pt x="5137531" y="4893691"/>
                  </a:lnTo>
                  <a:lnTo>
                    <a:pt x="5120640" y="48936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888487" y="5839463"/>
            <a:ext cx="3865883" cy="848363"/>
            <a:chOff x="0" y="0"/>
            <a:chExt cx="5154511" cy="113115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C0392B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1544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114171"/>
                  </a:lnTo>
                  <a:cubicBezTo>
                    <a:pt x="5154422" y="1123569"/>
                    <a:pt x="5146802" y="1131062"/>
                    <a:pt x="51375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5137531" y="1097280"/>
                  </a:lnTo>
                  <a:lnTo>
                    <a:pt x="5137531" y="1114171"/>
                  </a:lnTo>
                  <a:lnTo>
                    <a:pt x="5120640" y="111417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4992624" y="5888736"/>
            <a:ext cx="3657600" cy="768096"/>
            <a:chOff x="0" y="0"/>
            <a:chExt cx="4876800" cy="102412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4876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Pydantic v2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5138928" y="6856095"/>
            <a:ext cx="338328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3A4A5A"/>
                </a:solidFill>
                <a:latin typeface="Calibri (MS)"/>
                <a:ea typeface="Calibri (MS)"/>
                <a:cs typeface="Calibri (MS)"/>
                <a:sym typeface="Calibri (MS)"/>
              </a:rPr>
              <a:t>Request/response data validation &amp; modelling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9149591" y="5839463"/>
            <a:ext cx="3865883" cy="3683003"/>
            <a:chOff x="0" y="0"/>
            <a:chExt cx="5154511" cy="491067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51206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EEF3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154422" cy="4910582"/>
            </a:xfrm>
            <a:custGeom>
              <a:avLst/>
              <a:gdLst/>
              <a:ahLst/>
              <a:cxnLst/>
              <a:rect r="r" b="b" t="t" l="l"/>
              <a:pathLst>
                <a:path h="491058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4893691"/>
                  </a:lnTo>
                  <a:cubicBezTo>
                    <a:pt x="5154422" y="4903089"/>
                    <a:pt x="5146802" y="4910582"/>
                    <a:pt x="513753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5137531" y="4876800"/>
                  </a:lnTo>
                  <a:lnTo>
                    <a:pt x="5137531" y="4893691"/>
                  </a:lnTo>
                  <a:lnTo>
                    <a:pt x="5120640" y="48936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149591" y="5839463"/>
            <a:ext cx="3865883" cy="848363"/>
            <a:chOff x="0" y="0"/>
            <a:chExt cx="5154511" cy="113115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27AE60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1544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114171"/>
                  </a:lnTo>
                  <a:cubicBezTo>
                    <a:pt x="5154422" y="1123569"/>
                    <a:pt x="5146802" y="1131062"/>
                    <a:pt x="51375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5137531" y="1097280"/>
                  </a:lnTo>
                  <a:lnTo>
                    <a:pt x="5137531" y="1114171"/>
                  </a:lnTo>
                  <a:lnTo>
                    <a:pt x="5120640" y="111417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253728" y="5888736"/>
            <a:ext cx="3657600" cy="768096"/>
            <a:chOff x="0" y="0"/>
            <a:chExt cx="4876800" cy="102412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4876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python-dotenv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9400032" y="6856095"/>
            <a:ext cx="338328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3A4A5A"/>
                </a:solidFill>
                <a:latin typeface="Calibri (MS)"/>
                <a:ea typeface="Calibri (MS)"/>
                <a:cs typeface="Calibri (MS)"/>
                <a:sym typeface="Calibri (MS)"/>
              </a:rPr>
              <a:t>Secure environment variable management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3410695" y="5839463"/>
            <a:ext cx="3865883" cy="3683003"/>
            <a:chOff x="0" y="0"/>
            <a:chExt cx="5154511" cy="491067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6891" y="16891"/>
              <a:ext cx="51206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EEF3FF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154422" cy="4910582"/>
            </a:xfrm>
            <a:custGeom>
              <a:avLst/>
              <a:gdLst/>
              <a:ahLst/>
              <a:cxnLst/>
              <a:rect r="r" b="b" t="t" l="l"/>
              <a:pathLst>
                <a:path h="491058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4893691"/>
                  </a:lnTo>
                  <a:cubicBezTo>
                    <a:pt x="5154422" y="4903089"/>
                    <a:pt x="5146802" y="4910582"/>
                    <a:pt x="513753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5137531" y="4876800"/>
                  </a:lnTo>
                  <a:lnTo>
                    <a:pt x="5137531" y="4893691"/>
                  </a:lnTo>
                  <a:lnTo>
                    <a:pt x="5120640" y="48936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3410695" y="5839463"/>
            <a:ext cx="3865883" cy="848363"/>
            <a:chOff x="0" y="0"/>
            <a:chExt cx="5154511" cy="113115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6891" y="16891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39C12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1544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114171"/>
                  </a:lnTo>
                  <a:cubicBezTo>
                    <a:pt x="5154422" y="1123569"/>
                    <a:pt x="5146802" y="1131062"/>
                    <a:pt x="51375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5137531" y="1097280"/>
                  </a:lnTo>
                  <a:lnTo>
                    <a:pt x="5137531" y="1114171"/>
                  </a:lnTo>
                  <a:lnTo>
                    <a:pt x="5120640" y="111417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3514832" y="5888736"/>
            <a:ext cx="3657600" cy="768096"/>
            <a:chOff x="0" y="0"/>
            <a:chExt cx="4876800" cy="102412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4876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Uvicorn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(ASGI)</a:t>
              </a: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13661136" y="6856095"/>
            <a:ext cx="338328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3A4A5A"/>
                </a:solidFill>
                <a:latin typeface="Calibri (MS)"/>
                <a:ea typeface="Calibri (MS)"/>
                <a:cs typeface="Calibri (MS)"/>
                <a:sym typeface="Calibri (MS)"/>
              </a:rPr>
              <a:t>High-performance ASGI server for FastAPI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ECDC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1371600"/>
            <a:chOff x="0" y="0"/>
            <a:chExt cx="219456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19456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1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|  System Architecture &amp; Pipeline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5943" y="1633223"/>
            <a:ext cx="4048763" cy="2951483"/>
            <a:chOff x="0" y="0"/>
            <a:chExt cx="5398351" cy="39353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5364480" cy="3901440"/>
            </a:xfrm>
            <a:custGeom>
              <a:avLst/>
              <a:gdLst/>
              <a:ahLst/>
              <a:cxnLst/>
              <a:rect r="r" b="b" t="t" l="l"/>
              <a:pathLst>
                <a:path h="3901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1C2E5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8262" cy="3935222"/>
            </a:xfrm>
            <a:custGeom>
              <a:avLst/>
              <a:gdLst/>
              <a:ahLst/>
              <a:cxnLst/>
              <a:rect r="r" b="b" t="t" l="l"/>
              <a:pathLst>
                <a:path h="393522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918331"/>
                  </a:lnTo>
                  <a:cubicBezTo>
                    <a:pt x="5398262" y="3927729"/>
                    <a:pt x="5390642" y="3935222"/>
                    <a:pt x="538137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5381371" y="3901440"/>
                  </a:lnTo>
                  <a:lnTo>
                    <a:pt x="5381371" y="3918331"/>
                  </a:lnTo>
                  <a:lnTo>
                    <a:pt x="5364480" y="39183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ECDC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8640" y="1645920"/>
            <a:ext cx="4023360" cy="694944"/>
            <a:chOff x="0" y="0"/>
            <a:chExt cx="5364480" cy="9265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644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4ECDC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0080" y="2414016"/>
            <a:ext cx="3840480" cy="2011680"/>
            <a:chOff x="0" y="0"/>
            <a:chExt cx="5120640" cy="2682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206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206" t="0" r="-17206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12064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10210" indent="-205105" lvl="1">
                <a:lnSpc>
                  <a:spcPts val="2039"/>
                </a:lnSpc>
                <a:buFont typeface="Arial"/>
                <a:buChar char="•"/>
              </a:pPr>
              <a:r>
                <a:rPr lang="en-US" sz="1700">
                  <a:solidFill>
                    <a:srgbClr val="9BB8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HTML5 / CSS3 / JS</a:t>
              </a:r>
            </a:p>
            <a:p>
              <a:pPr algn="l" marL="410210" indent="-205105" lvl="1">
                <a:lnSpc>
                  <a:spcPts val="2039"/>
                </a:lnSpc>
                <a:buFont typeface="Arial"/>
                <a:buChar char="•"/>
              </a:pPr>
              <a:r>
                <a:rPr lang="en-US" sz="1700">
                  <a:solidFill>
                    <a:srgbClr val="9BB8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ID + Query</a:t>
              </a:r>
            </a:p>
            <a:p>
              <a:pPr algn="l" marL="410210" indent="-205105" lvl="1">
                <a:lnSpc>
                  <a:spcPts val="2039"/>
                </a:lnSpc>
                <a:buFont typeface="Arial"/>
                <a:buChar char="•"/>
              </a:pPr>
              <a:r>
                <a:rPr lang="en-US" sz="1700">
                  <a:solidFill>
                    <a:srgbClr val="9BB8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Recommendation display</a:t>
              </a:r>
            </a:p>
            <a:p>
              <a:pPr algn="l" marL="410210" indent="-205105" lvl="1">
                <a:lnSpc>
                  <a:spcPts val="2039"/>
                </a:lnSpc>
                <a:buFont typeface="Arial"/>
                <a:buChar char="•"/>
              </a:pPr>
              <a:r>
                <a:rPr lang="en-US" sz="1700">
                  <a:solidFill>
                    <a:srgbClr val="9BB8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Memory profile panel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022343" y="1633223"/>
            <a:ext cx="5877563" cy="2951483"/>
            <a:chOff x="0" y="0"/>
            <a:chExt cx="7836751" cy="39353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802881" cy="3901440"/>
            </a:xfrm>
            <a:custGeom>
              <a:avLst/>
              <a:gdLst/>
              <a:ahLst/>
              <a:cxnLst/>
              <a:rect r="r" b="b" t="t" l="l"/>
              <a:pathLst>
                <a:path h="3901440" w="7802881">
                  <a:moveTo>
                    <a:pt x="0" y="0"/>
                  </a:moveTo>
                  <a:lnTo>
                    <a:pt x="7802881" y="0"/>
                  </a:lnTo>
                  <a:lnTo>
                    <a:pt x="7802881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1C2E5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36662" cy="3935222"/>
            </a:xfrm>
            <a:custGeom>
              <a:avLst/>
              <a:gdLst/>
              <a:ahLst/>
              <a:cxnLst/>
              <a:rect r="r" b="b" t="t" l="l"/>
              <a:pathLst>
                <a:path h="3935222" w="7836662">
                  <a:moveTo>
                    <a:pt x="16891" y="0"/>
                  </a:moveTo>
                  <a:lnTo>
                    <a:pt x="7819772" y="0"/>
                  </a:lnTo>
                  <a:cubicBezTo>
                    <a:pt x="7829169" y="0"/>
                    <a:pt x="7836662" y="7620"/>
                    <a:pt x="7836662" y="16891"/>
                  </a:cubicBezTo>
                  <a:lnTo>
                    <a:pt x="7836662" y="3918331"/>
                  </a:lnTo>
                  <a:cubicBezTo>
                    <a:pt x="7836662" y="3927729"/>
                    <a:pt x="7829042" y="3935222"/>
                    <a:pt x="7819772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7819772" y="3901440"/>
                  </a:lnTo>
                  <a:lnTo>
                    <a:pt x="7819772" y="3918331"/>
                  </a:lnTo>
                  <a:lnTo>
                    <a:pt x="7802880" y="3918331"/>
                  </a:lnTo>
                  <a:lnTo>
                    <a:pt x="7802880" y="16891"/>
                  </a:lnTo>
                  <a:lnTo>
                    <a:pt x="7819772" y="16891"/>
                  </a:lnTo>
                  <a:lnTo>
                    <a:pt x="7819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7B73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035040" y="1645920"/>
            <a:ext cx="5852160" cy="694944"/>
            <a:chOff x="0" y="0"/>
            <a:chExt cx="780288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802880" cy="926592"/>
            </a:xfrm>
            <a:custGeom>
              <a:avLst/>
              <a:gdLst/>
              <a:ahLst/>
              <a:cxnLst/>
              <a:rect r="r" b="b" t="t" l="l"/>
              <a:pathLst>
                <a:path h="92659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084" r="0" b="-11408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802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7B73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FASTAPI BACKEND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126480" y="2414016"/>
            <a:ext cx="5669280" cy="2011680"/>
            <a:chOff x="0" y="0"/>
            <a:chExt cx="7559040" cy="2682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5590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12" r="0" b="-491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55904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10210" indent="-205105" lvl="1">
                <a:lnSpc>
                  <a:spcPts val="2039"/>
                </a:lnSpc>
                <a:buFont typeface="Arial"/>
                <a:buChar char="•"/>
              </a:pPr>
              <a:r>
                <a:rPr lang="en-US" sz="1700">
                  <a:solidFill>
                    <a:srgbClr val="9BB8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API Routing + CORS + Pydantic</a:t>
              </a:r>
            </a:p>
            <a:p>
              <a:pPr algn="l" marL="410210" indent="-205105" lvl="1">
                <a:lnSpc>
                  <a:spcPts val="2039"/>
                </a:lnSpc>
                <a:buFont typeface="Arial"/>
                <a:buChar char="•"/>
              </a:pPr>
              <a:r>
                <a:rPr lang="en-US" sz="1700">
                  <a:solidFill>
                    <a:srgbClr val="9BB8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Orchestrates 4-stage pipeline</a:t>
              </a:r>
            </a:p>
            <a:p>
              <a:pPr algn="l" marL="410210" indent="-205105" lvl="1">
                <a:lnSpc>
                  <a:spcPts val="2039"/>
                </a:lnSpc>
                <a:buFont typeface="Arial"/>
                <a:buChar char="•"/>
              </a:pPr>
              <a:r>
                <a:rPr lang="en-US" sz="1700">
                  <a:solidFill>
                    <a:srgbClr val="9BB8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Serves static frontend files</a:t>
              </a:r>
            </a:p>
            <a:p>
              <a:pPr algn="l" marL="410210" indent="-205105" lvl="1">
                <a:lnSpc>
                  <a:spcPts val="2039"/>
                </a:lnSpc>
                <a:buFont typeface="Arial"/>
                <a:buChar char="•"/>
              </a:pPr>
              <a:r>
                <a:rPr lang="en-US" sz="1700">
                  <a:solidFill>
                    <a:srgbClr val="9BB8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 endpoint + Swagger docs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337543" y="1633223"/>
            <a:ext cx="4323083" cy="2951483"/>
            <a:chOff x="0" y="0"/>
            <a:chExt cx="5764111" cy="39353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5730240" cy="3901440"/>
            </a:xfrm>
            <a:custGeom>
              <a:avLst/>
              <a:gdLst/>
              <a:ahLst/>
              <a:cxnLst/>
              <a:rect r="r" b="b" t="t" l="l"/>
              <a:pathLst>
                <a:path h="390144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1C2E5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64022" cy="3935222"/>
            </a:xfrm>
            <a:custGeom>
              <a:avLst/>
              <a:gdLst/>
              <a:ahLst/>
              <a:cxnLst/>
              <a:rect r="r" b="b" t="t" l="l"/>
              <a:pathLst>
                <a:path h="3935222" w="5764022">
                  <a:moveTo>
                    <a:pt x="16891" y="0"/>
                  </a:moveTo>
                  <a:lnTo>
                    <a:pt x="5747131" y="0"/>
                  </a:lnTo>
                  <a:cubicBezTo>
                    <a:pt x="5756529" y="0"/>
                    <a:pt x="5764022" y="7620"/>
                    <a:pt x="5764022" y="16891"/>
                  </a:cubicBezTo>
                  <a:lnTo>
                    <a:pt x="5764022" y="3918331"/>
                  </a:lnTo>
                  <a:cubicBezTo>
                    <a:pt x="5764022" y="3927729"/>
                    <a:pt x="5756402" y="3935222"/>
                    <a:pt x="574713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5747131" y="3901440"/>
                  </a:lnTo>
                  <a:lnTo>
                    <a:pt x="5747131" y="3918331"/>
                  </a:lnTo>
                  <a:lnTo>
                    <a:pt x="5730240" y="3918331"/>
                  </a:lnTo>
                  <a:lnTo>
                    <a:pt x="5730240" y="16891"/>
                  </a:lnTo>
                  <a:lnTo>
                    <a:pt x="5747131" y="16891"/>
                  </a:lnTo>
                  <a:lnTo>
                    <a:pt x="5747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89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350240" y="1645920"/>
            <a:ext cx="4297680" cy="694944"/>
            <a:chOff x="0" y="0"/>
            <a:chExt cx="5730240" cy="926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30240" cy="926592"/>
            </a:xfrm>
            <a:custGeom>
              <a:avLst/>
              <a:gdLst/>
              <a:ahLst/>
              <a:cxnLst/>
              <a:rect r="r" b="b" t="t" l="l"/>
              <a:pathLst>
                <a:path h="92659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499" r="0" b="-7049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730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B8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EXTERNAL APIs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441680" y="2414016"/>
            <a:ext cx="4114800" cy="2011680"/>
            <a:chOff x="0" y="0"/>
            <a:chExt cx="5486400" cy="2682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864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726" t="0" r="-12726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48640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10210" indent="-205105" lvl="1">
                <a:lnSpc>
                  <a:spcPts val="2039"/>
                </a:lnSpc>
                <a:buFont typeface="Arial"/>
                <a:buChar char="•"/>
              </a:pPr>
              <a:r>
                <a:rPr lang="en-US" sz="1700">
                  <a:solidFill>
                    <a:srgbClr val="9BB8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Firecrawl /scrape</a:t>
              </a:r>
            </a:p>
            <a:p>
              <a:pPr algn="l" marL="410210" indent="-205105" lvl="1">
                <a:lnSpc>
                  <a:spcPts val="2039"/>
                </a:lnSpc>
                <a:buFont typeface="Arial"/>
                <a:buChar char="•"/>
              </a:pPr>
              <a:r>
                <a:rPr lang="en-US" sz="1700">
                  <a:solidFill>
                    <a:srgbClr val="9BB8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Firecrawl /search</a:t>
              </a:r>
            </a:p>
            <a:p>
              <a:pPr algn="l" marL="410210" indent="-205105" lvl="1">
                <a:lnSpc>
                  <a:spcPts val="2039"/>
                </a:lnSpc>
                <a:buFont typeface="Arial"/>
                <a:buChar char="•"/>
              </a:pPr>
              <a:r>
                <a:rPr lang="en-US" sz="1700">
                  <a:solidFill>
                    <a:srgbClr val="9BB8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Gemini 2.5 Flash LLM</a:t>
              </a:r>
            </a:p>
            <a:p>
              <a:pPr algn="l" marL="410210" indent="-205105" lvl="1">
                <a:lnSpc>
                  <a:spcPts val="2039"/>
                </a:lnSpc>
                <a:buFont typeface="Arial"/>
                <a:buChar char="•"/>
              </a:pPr>
              <a:r>
                <a:rPr lang="en-US" sz="1700">
                  <a:solidFill>
                    <a:srgbClr val="9BB8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HTTPX async client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559303" y="3004823"/>
            <a:ext cx="1488443" cy="135131"/>
            <a:chOff x="0" y="0"/>
            <a:chExt cx="1984591" cy="1801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950720" cy="146304"/>
            </a:xfrm>
            <a:custGeom>
              <a:avLst/>
              <a:gdLst/>
              <a:ahLst/>
              <a:cxnLst/>
              <a:rect r="r" b="b" t="t" l="l"/>
              <a:pathLst>
                <a:path h="146304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7B8DB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84502" cy="180088"/>
            </a:xfrm>
            <a:custGeom>
              <a:avLst/>
              <a:gdLst/>
              <a:ahLst/>
              <a:cxnLst/>
              <a:rect r="r" b="b" t="t" l="l"/>
              <a:pathLst>
                <a:path h="180088" w="1984502">
                  <a:moveTo>
                    <a:pt x="16891" y="0"/>
                  </a:moveTo>
                  <a:lnTo>
                    <a:pt x="1967611" y="0"/>
                  </a:lnTo>
                  <a:cubicBezTo>
                    <a:pt x="1977009" y="0"/>
                    <a:pt x="1984502" y="7620"/>
                    <a:pt x="1984502" y="16891"/>
                  </a:cubicBezTo>
                  <a:lnTo>
                    <a:pt x="1984502" y="163195"/>
                  </a:lnTo>
                  <a:cubicBezTo>
                    <a:pt x="1984502" y="172593"/>
                    <a:pt x="1976882" y="180086"/>
                    <a:pt x="196761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967611" y="146304"/>
                  </a:lnTo>
                  <a:lnTo>
                    <a:pt x="1967611" y="163195"/>
                  </a:lnTo>
                  <a:lnTo>
                    <a:pt x="1950720" y="163195"/>
                  </a:lnTo>
                  <a:lnTo>
                    <a:pt x="1950720" y="16891"/>
                  </a:lnTo>
                  <a:lnTo>
                    <a:pt x="1967611" y="16891"/>
                  </a:lnTo>
                  <a:lnTo>
                    <a:pt x="1967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8DB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874503" y="3004823"/>
            <a:ext cx="1488443" cy="135131"/>
            <a:chOff x="0" y="0"/>
            <a:chExt cx="1984591" cy="18017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950720" cy="146304"/>
            </a:xfrm>
            <a:custGeom>
              <a:avLst/>
              <a:gdLst/>
              <a:ahLst/>
              <a:cxnLst/>
              <a:rect r="r" b="b" t="t" l="l"/>
              <a:pathLst>
                <a:path h="146304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7B8DB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84502" cy="180088"/>
            </a:xfrm>
            <a:custGeom>
              <a:avLst/>
              <a:gdLst/>
              <a:ahLst/>
              <a:cxnLst/>
              <a:rect r="r" b="b" t="t" l="l"/>
              <a:pathLst>
                <a:path h="180088" w="1984502">
                  <a:moveTo>
                    <a:pt x="16891" y="0"/>
                  </a:moveTo>
                  <a:lnTo>
                    <a:pt x="1967611" y="0"/>
                  </a:lnTo>
                  <a:cubicBezTo>
                    <a:pt x="1977009" y="0"/>
                    <a:pt x="1984502" y="7620"/>
                    <a:pt x="1984502" y="16891"/>
                  </a:cubicBezTo>
                  <a:lnTo>
                    <a:pt x="1984502" y="163195"/>
                  </a:lnTo>
                  <a:cubicBezTo>
                    <a:pt x="1984502" y="172593"/>
                    <a:pt x="1976882" y="180086"/>
                    <a:pt x="196761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967611" y="146304"/>
                  </a:lnTo>
                  <a:lnTo>
                    <a:pt x="1967611" y="163195"/>
                  </a:lnTo>
                  <a:lnTo>
                    <a:pt x="1950720" y="163195"/>
                  </a:lnTo>
                  <a:lnTo>
                    <a:pt x="1950720" y="16891"/>
                  </a:lnTo>
                  <a:lnTo>
                    <a:pt x="1967611" y="16891"/>
                  </a:lnTo>
                  <a:lnTo>
                    <a:pt x="1967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8DB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48640" y="4937760"/>
            <a:ext cx="16459200" cy="731520"/>
            <a:chOff x="0" y="0"/>
            <a:chExt cx="21945600" cy="975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1945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4ECDC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4-Stage Intelligent Pipeline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35943" y="5802887"/>
            <a:ext cx="3865883" cy="3683003"/>
            <a:chOff x="0" y="0"/>
            <a:chExt cx="5154511" cy="49106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51206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8284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54422" cy="4910582"/>
            </a:xfrm>
            <a:custGeom>
              <a:avLst/>
              <a:gdLst/>
              <a:ahLst/>
              <a:cxnLst/>
              <a:rect r="r" b="b" t="t" l="l"/>
              <a:pathLst>
                <a:path h="491058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4893691"/>
                  </a:lnTo>
                  <a:cubicBezTo>
                    <a:pt x="5154422" y="4903089"/>
                    <a:pt x="5146802" y="4910582"/>
                    <a:pt x="513753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5137531" y="4876800"/>
                  </a:lnTo>
                  <a:lnTo>
                    <a:pt x="5137531" y="4893691"/>
                  </a:lnTo>
                  <a:lnTo>
                    <a:pt x="5120640" y="48936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8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962407" y="5876039"/>
            <a:ext cx="1031243" cy="1031243"/>
            <a:chOff x="0" y="0"/>
            <a:chExt cx="1374991" cy="137499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1A3A8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1A3A8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975104" y="5888736"/>
            <a:ext cx="1005840" cy="1005840"/>
            <a:chOff x="0" y="0"/>
            <a:chExt cx="1341120" cy="13411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40080" y="6986016"/>
            <a:ext cx="3657600" cy="1005840"/>
            <a:chOff x="0" y="0"/>
            <a:chExt cx="4876800" cy="13411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76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8768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A3A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Memory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A3A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Service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40080" y="8083296"/>
            <a:ext cx="3657600" cy="1188720"/>
            <a:chOff x="0" y="0"/>
            <a:chExt cx="4876800" cy="15849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87680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BB8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Updates user profile: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BB8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history, category, budget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376423" y="7485383"/>
            <a:ext cx="537467" cy="135131"/>
            <a:chOff x="0" y="0"/>
            <a:chExt cx="716623" cy="18017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682752" cy="146304"/>
            </a:xfrm>
            <a:custGeom>
              <a:avLst/>
              <a:gdLst/>
              <a:ahLst/>
              <a:cxnLst/>
              <a:rect r="r" b="b" t="t" l="l"/>
              <a:pathLst>
                <a:path h="146304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7B8DB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16534" cy="180088"/>
            </a:xfrm>
            <a:custGeom>
              <a:avLst/>
              <a:gdLst/>
              <a:ahLst/>
              <a:cxnLst/>
              <a:rect r="r" b="b" t="t" l="l"/>
              <a:pathLst>
                <a:path h="180088" w="716534">
                  <a:moveTo>
                    <a:pt x="16891" y="0"/>
                  </a:moveTo>
                  <a:lnTo>
                    <a:pt x="699643" y="0"/>
                  </a:lnTo>
                  <a:cubicBezTo>
                    <a:pt x="709041" y="0"/>
                    <a:pt x="716534" y="7620"/>
                    <a:pt x="716534" y="16891"/>
                  </a:cubicBezTo>
                  <a:lnTo>
                    <a:pt x="716534" y="163195"/>
                  </a:lnTo>
                  <a:cubicBezTo>
                    <a:pt x="716534" y="172593"/>
                    <a:pt x="708914" y="180086"/>
                    <a:pt x="699643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699643" y="146304"/>
                  </a:lnTo>
                  <a:lnTo>
                    <a:pt x="699643" y="163195"/>
                  </a:lnTo>
                  <a:lnTo>
                    <a:pt x="682752" y="163195"/>
                  </a:lnTo>
                  <a:lnTo>
                    <a:pt x="682752" y="16891"/>
                  </a:lnTo>
                  <a:lnTo>
                    <a:pt x="699643" y="16891"/>
                  </a:lnTo>
                  <a:lnTo>
                    <a:pt x="6996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8DB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4888487" y="5802887"/>
            <a:ext cx="3865883" cy="3683003"/>
            <a:chOff x="0" y="0"/>
            <a:chExt cx="5154511" cy="491067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51206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8284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154422" cy="4910582"/>
            </a:xfrm>
            <a:custGeom>
              <a:avLst/>
              <a:gdLst/>
              <a:ahLst/>
              <a:cxnLst/>
              <a:rect r="r" b="b" t="t" l="l"/>
              <a:pathLst>
                <a:path h="491058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4893691"/>
                  </a:lnTo>
                  <a:cubicBezTo>
                    <a:pt x="5154422" y="4903089"/>
                    <a:pt x="5146802" y="4910582"/>
                    <a:pt x="513753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5137531" y="4876800"/>
                  </a:lnTo>
                  <a:lnTo>
                    <a:pt x="5137531" y="4893691"/>
                  </a:lnTo>
                  <a:lnTo>
                    <a:pt x="5120640" y="48936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314951" y="5876039"/>
            <a:ext cx="1031243" cy="1031243"/>
            <a:chOff x="0" y="0"/>
            <a:chExt cx="1374991" cy="137499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6327648" y="5888736"/>
            <a:ext cx="1005840" cy="1005840"/>
            <a:chOff x="0" y="0"/>
            <a:chExt cx="1341120" cy="13411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992624" y="6986016"/>
            <a:ext cx="3657600" cy="1005840"/>
            <a:chOff x="0" y="0"/>
            <a:chExt cx="4876800" cy="13411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876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8768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Crawler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Service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992624" y="8083296"/>
            <a:ext cx="3657600" cy="1188720"/>
            <a:chOff x="0" y="0"/>
            <a:chExt cx="4876800" cy="15849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87680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BB8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Scrapes Amazon &amp;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BB8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Flipkart via Firecrawl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8728967" y="7485383"/>
            <a:ext cx="537467" cy="135131"/>
            <a:chOff x="0" y="0"/>
            <a:chExt cx="716623" cy="18017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682752" cy="146304"/>
            </a:xfrm>
            <a:custGeom>
              <a:avLst/>
              <a:gdLst/>
              <a:ahLst/>
              <a:cxnLst/>
              <a:rect r="r" b="b" t="t" l="l"/>
              <a:pathLst>
                <a:path h="146304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7B8DB0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16534" cy="180088"/>
            </a:xfrm>
            <a:custGeom>
              <a:avLst/>
              <a:gdLst/>
              <a:ahLst/>
              <a:cxnLst/>
              <a:rect r="r" b="b" t="t" l="l"/>
              <a:pathLst>
                <a:path h="180088" w="716534">
                  <a:moveTo>
                    <a:pt x="16891" y="0"/>
                  </a:moveTo>
                  <a:lnTo>
                    <a:pt x="699643" y="0"/>
                  </a:lnTo>
                  <a:cubicBezTo>
                    <a:pt x="709041" y="0"/>
                    <a:pt x="716534" y="7620"/>
                    <a:pt x="716534" y="16891"/>
                  </a:cubicBezTo>
                  <a:lnTo>
                    <a:pt x="716534" y="163195"/>
                  </a:lnTo>
                  <a:cubicBezTo>
                    <a:pt x="716534" y="172593"/>
                    <a:pt x="708914" y="180086"/>
                    <a:pt x="699643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699643" y="146304"/>
                  </a:lnTo>
                  <a:lnTo>
                    <a:pt x="699643" y="163195"/>
                  </a:lnTo>
                  <a:lnTo>
                    <a:pt x="682752" y="163195"/>
                  </a:lnTo>
                  <a:lnTo>
                    <a:pt x="682752" y="16891"/>
                  </a:lnTo>
                  <a:lnTo>
                    <a:pt x="699643" y="16891"/>
                  </a:lnTo>
                  <a:lnTo>
                    <a:pt x="6996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8DB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241031" y="5802887"/>
            <a:ext cx="3865883" cy="3683003"/>
            <a:chOff x="0" y="0"/>
            <a:chExt cx="5154511" cy="491067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51206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82840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154422" cy="4910582"/>
            </a:xfrm>
            <a:custGeom>
              <a:avLst/>
              <a:gdLst/>
              <a:ahLst/>
              <a:cxnLst/>
              <a:rect r="r" b="b" t="t" l="l"/>
              <a:pathLst>
                <a:path h="491058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4893691"/>
                  </a:lnTo>
                  <a:cubicBezTo>
                    <a:pt x="5154422" y="4903089"/>
                    <a:pt x="5146802" y="4910582"/>
                    <a:pt x="513753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5137531" y="4876800"/>
                  </a:lnTo>
                  <a:lnTo>
                    <a:pt x="5137531" y="4893691"/>
                  </a:lnTo>
                  <a:lnTo>
                    <a:pt x="5120640" y="48936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894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0667495" y="5876039"/>
            <a:ext cx="1031243" cy="1031243"/>
            <a:chOff x="0" y="0"/>
            <a:chExt cx="1374991" cy="137499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0B894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00B894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0680192" y="5888736"/>
            <a:ext cx="1005840" cy="1005840"/>
            <a:chOff x="0" y="0"/>
            <a:chExt cx="1341120" cy="13411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345168" y="6986016"/>
            <a:ext cx="3657600" cy="1005840"/>
            <a:chOff x="0" y="0"/>
            <a:chExt cx="4876800" cy="13411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876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48768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B8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Processor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B8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Service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345168" y="8083296"/>
            <a:ext cx="3657600" cy="1188720"/>
            <a:chOff x="0" y="0"/>
            <a:chExt cx="4876800" cy="158496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87680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BB8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Budget filter +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BB8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Rating × Proximity score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081511" y="7485383"/>
            <a:ext cx="537467" cy="135131"/>
            <a:chOff x="0" y="0"/>
            <a:chExt cx="716623" cy="18017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682752" cy="146304"/>
            </a:xfrm>
            <a:custGeom>
              <a:avLst/>
              <a:gdLst/>
              <a:ahLst/>
              <a:cxnLst/>
              <a:rect r="r" b="b" t="t" l="l"/>
              <a:pathLst>
                <a:path h="146304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7B8DB0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16534" cy="180088"/>
            </a:xfrm>
            <a:custGeom>
              <a:avLst/>
              <a:gdLst/>
              <a:ahLst/>
              <a:cxnLst/>
              <a:rect r="r" b="b" t="t" l="l"/>
              <a:pathLst>
                <a:path h="180088" w="716534">
                  <a:moveTo>
                    <a:pt x="16891" y="0"/>
                  </a:moveTo>
                  <a:lnTo>
                    <a:pt x="699643" y="0"/>
                  </a:lnTo>
                  <a:cubicBezTo>
                    <a:pt x="709041" y="0"/>
                    <a:pt x="716534" y="7620"/>
                    <a:pt x="716534" y="16891"/>
                  </a:cubicBezTo>
                  <a:lnTo>
                    <a:pt x="716534" y="163195"/>
                  </a:lnTo>
                  <a:cubicBezTo>
                    <a:pt x="716534" y="172593"/>
                    <a:pt x="708914" y="180086"/>
                    <a:pt x="699643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699643" y="146304"/>
                  </a:lnTo>
                  <a:lnTo>
                    <a:pt x="699643" y="163195"/>
                  </a:lnTo>
                  <a:lnTo>
                    <a:pt x="682752" y="163195"/>
                  </a:lnTo>
                  <a:lnTo>
                    <a:pt x="682752" y="16891"/>
                  </a:lnTo>
                  <a:lnTo>
                    <a:pt x="699643" y="16891"/>
                  </a:lnTo>
                  <a:lnTo>
                    <a:pt x="6996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8DB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3593575" y="5802887"/>
            <a:ext cx="3865883" cy="3683003"/>
            <a:chOff x="0" y="0"/>
            <a:chExt cx="5154511" cy="491067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51206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82840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154422" cy="4910582"/>
            </a:xfrm>
            <a:custGeom>
              <a:avLst/>
              <a:gdLst/>
              <a:ahLst/>
              <a:cxnLst/>
              <a:rect r="r" b="b" t="t" l="l"/>
              <a:pathLst>
                <a:path h="491058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4893691"/>
                  </a:lnTo>
                  <a:cubicBezTo>
                    <a:pt x="5154422" y="4903089"/>
                    <a:pt x="5146802" y="4910582"/>
                    <a:pt x="513753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5137531" y="4876800"/>
                  </a:lnTo>
                  <a:lnTo>
                    <a:pt x="5137531" y="4893691"/>
                  </a:lnTo>
                  <a:lnTo>
                    <a:pt x="5120640" y="48936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E44AD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5020039" y="5876039"/>
            <a:ext cx="1031243" cy="1031243"/>
            <a:chOff x="0" y="0"/>
            <a:chExt cx="1374991" cy="137499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8E44AD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8E44AD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5032736" y="5888736"/>
            <a:ext cx="1005840" cy="1005840"/>
            <a:chOff x="0" y="0"/>
            <a:chExt cx="1341120" cy="134112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3697712" y="6986016"/>
            <a:ext cx="3657600" cy="1005840"/>
            <a:chOff x="0" y="0"/>
            <a:chExt cx="4876800" cy="13411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876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48768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8E44A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LLM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8E44A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Service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3697712" y="8083296"/>
            <a:ext cx="3657600" cy="1188720"/>
            <a:chOff x="0" y="0"/>
            <a:chExt cx="4876800" cy="158496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487680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BB8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Gemini generates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BB8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natural-language recs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35943" y="9588503"/>
            <a:ext cx="17216123" cy="482603"/>
            <a:chOff x="0" y="0"/>
            <a:chExt cx="22954831" cy="64347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22920960" cy="609600"/>
            </a:xfrm>
            <a:custGeom>
              <a:avLst/>
              <a:gdLst/>
              <a:ahLst/>
              <a:cxnLst/>
              <a:rect r="r" b="b" t="t" l="l"/>
              <a:pathLst>
                <a:path h="60960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A2D48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2954743" cy="643384"/>
            </a:xfrm>
            <a:custGeom>
              <a:avLst/>
              <a:gdLst/>
              <a:ahLst/>
              <a:cxnLst/>
              <a:rect r="r" b="b" t="t" l="l"/>
              <a:pathLst>
                <a:path h="643384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26491"/>
                  </a:lnTo>
                  <a:cubicBezTo>
                    <a:pt x="22954743" y="635889"/>
                    <a:pt x="22947123" y="643382"/>
                    <a:pt x="2293785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22937851" y="609600"/>
                  </a:lnTo>
                  <a:lnTo>
                    <a:pt x="22937851" y="626491"/>
                  </a:lnTo>
                  <a:lnTo>
                    <a:pt x="22920961" y="62649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D48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48640" y="9601200"/>
            <a:ext cx="17190720" cy="457200"/>
            <a:chOff x="0" y="0"/>
            <a:chExt cx="22920960" cy="6096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2920961" cy="609600"/>
            </a:xfrm>
            <a:custGeom>
              <a:avLst/>
              <a:gdLst/>
              <a:ahLst/>
              <a:cxnLst/>
              <a:rect r="r" b="b" t="t" l="l"/>
              <a:pathLst>
                <a:path h="6096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2637" r="0" b="-682637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229209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B8D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Memory persists to  data/users.json  —  no database required  |  Fallback activates if Gemini fails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0B89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89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1371600"/>
            <a:chOff x="0" y="0"/>
            <a:chExt cx="219456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19456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 |  Key Features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7383" y="1633223"/>
            <a:ext cx="8255003" cy="2549147"/>
            <a:chOff x="0" y="0"/>
            <a:chExt cx="11006671" cy="33988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972800" cy="3364992"/>
            </a:xfrm>
            <a:custGeom>
              <a:avLst/>
              <a:gdLst/>
              <a:ahLst/>
              <a:cxnLst/>
              <a:rect r="r" b="b" t="t" l="l"/>
              <a:pathLst>
                <a:path h="33649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06582" cy="3398774"/>
            </a:xfrm>
            <a:custGeom>
              <a:avLst/>
              <a:gdLst/>
              <a:ahLst/>
              <a:cxnLst/>
              <a:rect r="r" b="b" t="t" l="l"/>
              <a:pathLst>
                <a:path h="339877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381883"/>
                  </a:lnTo>
                  <a:cubicBezTo>
                    <a:pt x="11006582" y="3391281"/>
                    <a:pt x="10998962" y="3398774"/>
                    <a:pt x="10989691" y="3398774"/>
                  </a:cubicBezTo>
                  <a:lnTo>
                    <a:pt x="16891" y="3398774"/>
                  </a:lnTo>
                  <a:cubicBezTo>
                    <a:pt x="7493" y="3398774"/>
                    <a:pt x="0" y="3391154"/>
                    <a:pt x="0" y="3381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81883"/>
                  </a:lnTo>
                  <a:lnTo>
                    <a:pt x="16891" y="3381883"/>
                  </a:lnTo>
                  <a:lnTo>
                    <a:pt x="16891" y="3364992"/>
                  </a:lnTo>
                  <a:lnTo>
                    <a:pt x="10989691" y="3364992"/>
                  </a:lnTo>
                  <a:lnTo>
                    <a:pt x="10989691" y="3381883"/>
                  </a:lnTo>
                  <a:lnTo>
                    <a:pt x="10972800" y="338188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A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27383" y="1633223"/>
            <a:ext cx="8255003" cy="135131"/>
            <a:chOff x="0" y="0"/>
            <a:chExt cx="11006671" cy="1801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972800" cy="146304"/>
            </a:xfrm>
            <a:custGeom>
              <a:avLst/>
              <a:gdLst/>
              <a:ahLst/>
              <a:cxnLst/>
              <a:rect r="r" b="b" t="t" l="l"/>
              <a:pathLst>
                <a:path h="14630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A3A8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6582" cy="180088"/>
            </a:xfrm>
            <a:custGeom>
              <a:avLst/>
              <a:gdLst/>
              <a:ahLst/>
              <a:cxnLst/>
              <a:rect r="r" b="b" t="t" l="l"/>
              <a:pathLst>
                <a:path h="180088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63195"/>
                  </a:lnTo>
                  <a:cubicBezTo>
                    <a:pt x="11006582" y="172593"/>
                    <a:pt x="10998962" y="180086"/>
                    <a:pt x="109896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0989691" y="146304"/>
                  </a:lnTo>
                  <a:lnTo>
                    <a:pt x="10989691" y="163195"/>
                  </a:lnTo>
                  <a:lnTo>
                    <a:pt x="10972800" y="163195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8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1865376"/>
            <a:ext cx="7680960" cy="640080"/>
            <a:chOff x="0" y="0"/>
            <a:chExt cx="1024128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2412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3A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Natural Language Query Processing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2523744"/>
            <a:ext cx="7680960" cy="1463040"/>
            <a:chOff x="0" y="0"/>
            <a:chExt cx="10241280" cy="1950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24128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Accepts plain-English queries like 'best gaming laptop under Rs70,000' and auto-extracts category + budget.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05623" y="1633223"/>
            <a:ext cx="8255003" cy="2549147"/>
            <a:chOff x="0" y="0"/>
            <a:chExt cx="11006671" cy="33988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0972800" cy="3364992"/>
            </a:xfrm>
            <a:custGeom>
              <a:avLst/>
              <a:gdLst/>
              <a:ahLst/>
              <a:cxnLst/>
              <a:rect r="r" b="b" t="t" l="l"/>
              <a:pathLst>
                <a:path h="33649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06582" cy="3398774"/>
            </a:xfrm>
            <a:custGeom>
              <a:avLst/>
              <a:gdLst/>
              <a:ahLst/>
              <a:cxnLst/>
              <a:rect r="r" b="b" t="t" l="l"/>
              <a:pathLst>
                <a:path h="339877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381883"/>
                  </a:lnTo>
                  <a:cubicBezTo>
                    <a:pt x="11006582" y="3391281"/>
                    <a:pt x="10998962" y="3398774"/>
                    <a:pt x="10989691" y="3398774"/>
                  </a:cubicBezTo>
                  <a:lnTo>
                    <a:pt x="16891" y="3398774"/>
                  </a:lnTo>
                  <a:cubicBezTo>
                    <a:pt x="7493" y="3398774"/>
                    <a:pt x="0" y="3391154"/>
                    <a:pt x="0" y="3381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81883"/>
                  </a:lnTo>
                  <a:lnTo>
                    <a:pt x="16891" y="3381883"/>
                  </a:lnTo>
                  <a:lnTo>
                    <a:pt x="16891" y="3364992"/>
                  </a:lnTo>
                  <a:lnTo>
                    <a:pt x="10989691" y="3364992"/>
                  </a:lnTo>
                  <a:lnTo>
                    <a:pt x="10989691" y="3381883"/>
                  </a:lnTo>
                  <a:lnTo>
                    <a:pt x="10972800" y="338188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A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405623" y="1633223"/>
            <a:ext cx="8255003" cy="135131"/>
            <a:chOff x="0" y="0"/>
            <a:chExt cx="11006671" cy="1801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0972800" cy="146304"/>
            </a:xfrm>
            <a:custGeom>
              <a:avLst/>
              <a:gdLst/>
              <a:ahLst/>
              <a:cxnLst/>
              <a:rect r="r" b="b" t="t" l="l"/>
              <a:pathLst>
                <a:path h="14630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06582" cy="180088"/>
            </a:xfrm>
            <a:custGeom>
              <a:avLst/>
              <a:gdLst/>
              <a:ahLst/>
              <a:cxnLst/>
              <a:rect r="r" b="b" t="t" l="l"/>
              <a:pathLst>
                <a:path h="180088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63195"/>
                  </a:lnTo>
                  <a:cubicBezTo>
                    <a:pt x="11006582" y="172593"/>
                    <a:pt x="10998962" y="180086"/>
                    <a:pt x="109896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0989691" y="146304"/>
                  </a:lnTo>
                  <a:lnTo>
                    <a:pt x="10989691" y="163195"/>
                  </a:lnTo>
                  <a:lnTo>
                    <a:pt x="10972800" y="163195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92640" y="1865376"/>
            <a:ext cx="7680960" cy="640080"/>
            <a:chOff x="0" y="0"/>
            <a:chExt cx="1024128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2412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Memento-Style User Memory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92640" y="2523744"/>
            <a:ext cx="7680960" cy="1463040"/>
            <a:chOff x="0" y="0"/>
            <a:chExt cx="10241280" cy="1950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41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24128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Tracks query history, category, and budget across sessions via a lightweight JSON file store — no DB required.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27383" y="4467863"/>
            <a:ext cx="8255003" cy="2549147"/>
            <a:chOff x="0" y="0"/>
            <a:chExt cx="11006671" cy="339886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0972800" cy="3364992"/>
            </a:xfrm>
            <a:custGeom>
              <a:avLst/>
              <a:gdLst/>
              <a:ahLst/>
              <a:cxnLst/>
              <a:rect r="r" b="b" t="t" l="l"/>
              <a:pathLst>
                <a:path h="33649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006582" cy="3398774"/>
            </a:xfrm>
            <a:custGeom>
              <a:avLst/>
              <a:gdLst/>
              <a:ahLst/>
              <a:cxnLst/>
              <a:rect r="r" b="b" t="t" l="l"/>
              <a:pathLst>
                <a:path h="339877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381883"/>
                  </a:lnTo>
                  <a:cubicBezTo>
                    <a:pt x="11006582" y="3391281"/>
                    <a:pt x="10998962" y="3398774"/>
                    <a:pt x="10989691" y="3398774"/>
                  </a:cubicBezTo>
                  <a:lnTo>
                    <a:pt x="16891" y="3398774"/>
                  </a:lnTo>
                  <a:cubicBezTo>
                    <a:pt x="7493" y="3398774"/>
                    <a:pt x="0" y="3391154"/>
                    <a:pt x="0" y="3381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81883"/>
                  </a:lnTo>
                  <a:lnTo>
                    <a:pt x="16891" y="3381883"/>
                  </a:lnTo>
                  <a:lnTo>
                    <a:pt x="16891" y="3364992"/>
                  </a:lnTo>
                  <a:lnTo>
                    <a:pt x="10989691" y="3364992"/>
                  </a:lnTo>
                  <a:lnTo>
                    <a:pt x="10989691" y="3381883"/>
                  </a:lnTo>
                  <a:lnTo>
                    <a:pt x="10972800" y="338188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A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27383" y="4467863"/>
            <a:ext cx="8255003" cy="135131"/>
            <a:chOff x="0" y="0"/>
            <a:chExt cx="11006671" cy="1801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0972800" cy="146304"/>
            </a:xfrm>
            <a:custGeom>
              <a:avLst/>
              <a:gdLst/>
              <a:ahLst/>
              <a:cxnLst/>
              <a:rect r="r" b="b" t="t" l="l"/>
              <a:pathLst>
                <a:path h="14630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0B894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06582" cy="180088"/>
            </a:xfrm>
            <a:custGeom>
              <a:avLst/>
              <a:gdLst/>
              <a:ahLst/>
              <a:cxnLst/>
              <a:rect r="r" b="b" t="t" l="l"/>
              <a:pathLst>
                <a:path h="180088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63195"/>
                  </a:lnTo>
                  <a:cubicBezTo>
                    <a:pt x="11006582" y="172593"/>
                    <a:pt x="10998962" y="180086"/>
                    <a:pt x="109896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0989691" y="146304"/>
                  </a:lnTo>
                  <a:lnTo>
                    <a:pt x="10989691" y="163195"/>
                  </a:lnTo>
                  <a:lnTo>
                    <a:pt x="10972800" y="163195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89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14400" y="4700016"/>
            <a:ext cx="7680960" cy="640080"/>
            <a:chOff x="0" y="0"/>
            <a:chExt cx="10241280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02412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0B8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Product Scraping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4400" y="5358384"/>
            <a:ext cx="7680960" cy="1463040"/>
            <a:chOff x="0" y="0"/>
            <a:chExt cx="10241280" cy="19507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241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24128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Scrapes live listings from Amazon &amp; Flipkart via Firecrawl /scrape, falling back to /search when needed.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405623" y="4467863"/>
            <a:ext cx="8255003" cy="2549147"/>
            <a:chOff x="0" y="0"/>
            <a:chExt cx="11006671" cy="339886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0972800" cy="3364992"/>
            </a:xfrm>
            <a:custGeom>
              <a:avLst/>
              <a:gdLst/>
              <a:ahLst/>
              <a:cxnLst/>
              <a:rect r="r" b="b" t="t" l="l"/>
              <a:pathLst>
                <a:path h="33649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006582" cy="3398774"/>
            </a:xfrm>
            <a:custGeom>
              <a:avLst/>
              <a:gdLst/>
              <a:ahLst/>
              <a:cxnLst/>
              <a:rect r="r" b="b" t="t" l="l"/>
              <a:pathLst>
                <a:path h="339877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381883"/>
                  </a:lnTo>
                  <a:cubicBezTo>
                    <a:pt x="11006582" y="3391281"/>
                    <a:pt x="10998962" y="3398774"/>
                    <a:pt x="10989691" y="3398774"/>
                  </a:cubicBezTo>
                  <a:lnTo>
                    <a:pt x="16891" y="3398774"/>
                  </a:lnTo>
                  <a:cubicBezTo>
                    <a:pt x="7493" y="3398774"/>
                    <a:pt x="0" y="3391154"/>
                    <a:pt x="0" y="3381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81883"/>
                  </a:lnTo>
                  <a:lnTo>
                    <a:pt x="16891" y="3381883"/>
                  </a:lnTo>
                  <a:lnTo>
                    <a:pt x="16891" y="3364992"/>
                  </a:lnTo>
                  <a:lnTo>
                    <a:pt x="10989691" y="3364992"/>
                  </a:lnTo>
                  <a:lnTo>
                    <a:pt x="10989691" y="3381883"/>
                  </a:lnTo>
                  <a:lnTo>
                    <a:pt x="10972800" y="338188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AF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405623" y="4467863"/>
            <a:ext cx="8255003" cy="135131"/>
            <a:chOff x="0" y="0"/>
            <a:chExt cx="11006671" cy="18017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0972800" cy="146304"/>
            </a:xfrm>
            <a:custGeom>
              <a:avLst/>
              <a:gdLst/>
              <a:ahLst/>
              <a:cxnLst/>
              <a:rect r="r" b="b" t="t" l="l"/>
              <a:pathLst>
                <a:path h="14630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8E44AD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006582" cy="180088"/>
            </a:xfrm>
            <a:custGeom>
              <a:avLst/>
              <a:gdLst/>
              <a:ahLst/>
              <a:cxnLst/>
              <a:rect r="r" b="b" t="t" l="l"/>
              <a:pathLst>
                <a:path h="180088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63195"/>
                  </a:lnTo>
                  <a:cubicBezTo>
                    <a:pt x="11006582" y="172593"/>
                    <a:pt x="10998962" y="180086"/>
                    <a:pt x="109896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0989691" y="146304"/>
                  </a:lnTo>
                  <a:lnTo>
                    <a:pt x="10989691" y="163195"/>
                  </a:lnTo>
                  <a:lnTo>
                    <a:pt x="10972800" y="163195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E44AD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692640" y="4700016"/>
            <a:ext cx="7680960" cy="640080"/>
            <a:chOff x="0" y="0"/>
            <a:chExt cx="1024128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02412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8E44A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Smart Budget Filtering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92640" y="5358384"/>
            <a:ext cx="7680960" cy="1463040"/>
            <a:chOff x="0" y="0"/>
            <a:chExt cx="10241280" cy="19507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41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24128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Filters products with a 10% buffer. Scores using: Score = (Rating × 2.0) + Budget Proximity Bonus.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27383" y="7302503"/>
            <a:ext cx="8255003" cy="2549147"/>
            <a:chOff x="0" y="0"/>
            <a:chExt cx="11006671" cy="339886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0972800" cy="3364992"/>
            </a:xfrm>
            <a:custGeom>
              <a:avLst/>
              <a:gdLst/>
              <a:ahLst/>
              <a:cxnLst/>
              <a:rect r="r" b="b" t="t" l="l"/>
              <a:pathLst>
                <a:path h="33649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006582" cy="3398774"/>
            </a:xfrm>
            <a:custGeom>
              <a:avLst/>
              <a:gdLst/>
              <a:ahLst/>
              <a:cxnLst/>
              <a:rect r="r" b="b" t="t" l="l"/>
              <a:pathLst>
                <a:path h="339877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381883"/>
                  </a:lnTo>
                  <a:cubicBezTo>
                    <a:pt x="11006582" y="3391281"/>
                    <a:pt x="10998962" y="3398774"/>
                    <a:pt x="10989691" y="3398774"/>
                  </a:cubicBezTo>
                  <a:lnTo>
                    <a:pt x="16891" y="3398774"/>
                  </a:lnTo>
                  <a:cubicBezTo>
                    <a:pt x="7493" y="3398774"/>
                    <a:pt x="0" y="3391154"/>
                    <a:pt x="0" y="3381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81883"/>
                  </a:lnTo>
                  <a:lnTo>
                    <a:pt x="16891" y="3381883"/>
                  </a:lnTo>
                  <a:lnTo>
                    <a:pt x="16891" y="3364992"/>
                  </a:lnTo>
                  <a:lnTo>
                    <a:pt x="10989691" y="3364992"/>
                  </a:lnTo>
                  <a:lnTo>
                    <a:pt x="10989691" y="3381883"/>
                  </a:lnTo>
                  <a:lnTo>
                    <a:pt x="10972800" y="338188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AF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27383" y="7302503"/>
            <a:ext cx="8255003" cy="135131"/>
            <a:chOff x="0" y="0"/>
            <a:chExt cx="11006671" cy="18017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0972800" cy="146304"/>
            </a:xfrm>
            <a:custGeom>
              <a:avLst/>
              <a:gdLst/>
              <a:ahLst/>
              <a:cxnLst/>
              <a:rect r="r" b="b" t="t" l="l"/>
              <a:pathLst>
                <a:path h="14630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7B731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006582" cy="180088"/>
            </a:xfrm>
            <a:custGeom>
              <a:avLst/>
              <a:gdLst/>
              <a:ahLst/>
              <a:cxnLst/>
              <a:rect r="r" b="b" t="t" l="l"/>
              <a:pathLst>
                <a:path h="180088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63195"/>
                  </a:lnTo>
                  <a:cubicBezTo>
                    <a:pt x="11006582" y="172593"/>
                    <a:pt x="10998962" y="180086"/>
                    <a:pt x="109896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0989691" y="146304"/>
                  </a:lnTo>
                  <a:lnTo>
                    <a:pt x="10989691" y="163195"/>
                  </a:lnTo>
                  <a:lnTo>
                    <a:pt x="10972800" y="163195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7B731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14400" y="7534656"/>
            <a:ext cx="7680960" cy="640080"/>
            <a:chOff x="0" y="0"/>
            <a:chExt cx="10241280" cy="853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02412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7B73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AI-Generated Recommendations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14400" y="8193024"/>
            <a:ext cx="7680960" cy="1463040"/>
            <a:chOff x="0" y="0"/>
            <a:chExt cx="10241280" cy="19507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241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24128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Google Gemini 2.5 Flash generates human-readable recs with price, rating, and source for top 2-3 products.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405623" y="7302503"/>
            <a:ext cx="8255003" cy="2549147"/>
            <a:chOff x="0" y="0"/>
            <a:chExt cx="11006671" cy="339886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0972800" cy="3364992"/>
            </a:xfrm>
            <a:custGeom>
              <a:avLst/>
              <a:gdLst/>
              <a:ahLst/>
              <a:cxnLst/>
              <a:rect r="r" b="b" t="t" l="l"/>
              <a:pathLst>
                <a:path h="33649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006582" cy="3398774"/>
            </a:xfrm>
            <a:custGeom>
              <a:avLst/>
              <a:gdLst/>
              <a:ahLst/>
              <a:cxnLst/>
              <a:rect r="r" b="b" t="t" l="l"/>
              <a:pathLst>
                <a:path h="339877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381883"/>
                  </a:lnTo>
                  <a:cubicBezTo>
                    <a:pt x="11006582" y="3391281"/>
                    <a:pt x="10998962" y="3398774"/>
                    <a:pt x="10989691" y="3398774"/>
                  </a:cubicBezTo>
                  <a:lnTo>
                    <a:pt x="16891" y="3398774"/>
                  </a:lnTo>
                  <a:cubicBezTo>
                    <a:pt x="7493" y="3398774"/>
                    <a:pt x="0" y="3391154"/>
                    <a:pt x="0" y="3381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81883"/>
                  </a:lnTo>
                  <a:lnTo>
                    <a:pt x="16891" y="3381883"/>
                  </a:lnTo>
                  <a:lnTo>
                    <a:pt x="16891" y="3364992"/>
                  </a:lnTo>
                  <a:lnTo>
                    <a:pt x="10989691" y="3364992"/>
                  </a:lnTo>
                  <a:lnTo>
                    <a:pt x="10989691" y="3381883"/>
                  </a:lnTo>
                  <a:lnTo>
                    <a:pt x="10972800" y="338188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AF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405623" y="7302503"/>
            <a:ext cx="8255003" cy="135131"/>
            <a:chOff x="0" y="0"/>
            <a:chExt cx="11006671" cy="18017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0972800" cy="146304"/>
            </a:xfrm>
            <a:custGeom>
              <a:avLst/>
              <a:gdLst/>
              <a:ahLst/>
              <a:cxnLst/>
              <a:rect r="r" b="b" t="t" l="l"/>
              <a:pathLst>
                <a:path h="14630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63031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006582" cy="180088"/>
            </a:xfrm>
            <a:custGeom>
              <a:avLst/>
              <a:gdLst/>
              <a:ahLst/>
              <a:cxnLst/>
              <a:rect r="r" b="b" t="t" l="l"/>
              <a:pathLst>
                <a:path h="180088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63195"/>
                  </a:lnTo>
                  <a:cubicBezTo>
                    <a:pt x="11006582" y="172593"/>
                    <a:pt x="10998962" y="180086"/>
                    <a:pt x="109896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0989691" y="146304"/>
                  </a:lnTo>
                  <a:lnTo>
                    <a:pt x="10989691" y="163195"/>
                  </a:lnTo>
                  <a:lnTo>
                    <a:pt x="10972800" y="163195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63031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692640" y="7534656"/>
            <a:ext cx="7680960" cy="640080"/>
            <a:chOff x="0" y="0"/>
            <a:chExt cx="10241280" cy="853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02412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D6303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Fallback Resilience System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692640" y="8193024"/>
            <a:ext cx="7680960" cy="1463040"/>
            <a:chOff x="0" y="0"/>
            <a:chExt cx="10241280" cy="19507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241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024128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Two-tier fallback: Firecrawl /search when scraping fails; structured builder when Gemini is unavailable.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8E44A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E44A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1371600"/>
            <a:chOff x="0" y="0"/>
            <a:chExt cx="219456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19456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 |  Application Scenarios &amp; Use Cases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5943" y="1596647"/>
            <a:ext cx="17216123" cy="1982219"/>
            <a:chOff x="0" y="0"/>
            <a:chExt cx="22954831" cy="26429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2920960" cy="2609088"/>
            </a:xfrm>
            <a:custGeom>
              <a:avLst/>
              <a:gdLst/>
              <a:ahLst/>
              <a:cxnLst/>
              <a:rect r="r" b="b" t="t" l="l"/>
              <a:pathLst>
                <a:path h="2609088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2609088"/>
                  </a:lnTo>
                  <a:lnTo>
                    <a:pt x="0" y="2609088"/>
                  </a:lnTo>
                  <a:close/>
                </a:path>
              </a:pathLst>
            </a:custGeom>
            <a:solidFill>
              <a:srgbClr val="EEF3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54743" cy="2642870"/>
            </a:xfrm>
            <a:custGeom>
              <a:avLst/>
              <a:gdLst/>
              <a:ahLst/>
              <a:cxnLst/>
              <a:rect r="r" b="b" t="t" l="l"/>
              <a:pathLst>
                <a:path h="264287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2625979"/>
                  </a:lnTo>
                  <a:cubicBezTo>
                    <a:pt x="22954743" y="2635377"/>
                    <a:pt x="22947123" y="2642870"/>
                    <a:pt x="22937851" y="2642870"/>
                  </a:cubicBezTo>
                  <a:lnTo>
                    <a:pt x="16891" y="2642870"/>
                  </a:lnTo>
                  <a:cubicBezTo>
                    <a:pt x="7493" y="2642870"/>
                    <a:pt x="0" y="2635250"/>
                    <a:pt x="0" y="26259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25979"/>
                  </a:lnTo>
                  <a:lnTo>
                    <a:pt x="16891" y="2625979"/>
                  </a:lnTo>
                  <a:lnTo>
                    <a:pt x="16891" y="2609088"/>
                  </a:lnTo>
                  <a:lnTo>
                    <a:pt x="22937851" y="2609088"/>
                  </a:lnTo>
                  <a:lnTo>
                    <a:pt x="22937851" y="2625979"/>
                  </a:lnTo>
                  <a:lnTo>
                    <a:pt x="22920961" y="2625979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1596647"/>
            <a:ext cx="153419" cy="1982219"/>
            <a:chOff x="0" y="0"/>
            <a:chExt cx="204559" cy="26429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70688" cy="2609088"/>
            </a:xfrm>
            <a:custGeom>
              <a:avLst/>
              <a:gdLst/>
              <a:ahLst/>
              <a:cxnLst/>
              <a:rect r="r" b="b" t="t" l="l"/>
              <a:pathLst>
                <a:path h="260908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609088"/>
                  </a:lnTo>
                  <a:lnTo>
                    <a:pt x="0" y="2609088"/>
                  </a:lnTo>
                  <a:close/>
                </a:path>
              </a:pathLst>
            </a:custGeom>
            <a:solidFill>
              <a:srgbClr val="1A3A8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4470" cy="2642870"/>
            </a:xfrm>
            <a:custGeom>
              <a:avLst/>
              <a:gdLst/>
              <a:ahLst/>
              <a:cxnLst/>
              <a:rect r="r" b="b" t="t" l="l"/>
              <a:pathLst>
                <a:path h="264287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625979"/>
                  </a:lnTo>
                  <a:cubicBezTo>
                    <a:pt x="204470" y="2635377"/>
                    <a:pt x="196850" y="2642870"/>
                    <a:pt x="187579" y="2642870"/>
                  </a:cubicBezTo>
                  <a:lnTo>
                    <a:pt x="16891" y="2642870"/>
                  </a:lnTo>
                  <a:cubicBezTo>
                    <a:pt x="7493" y="2642870"/>
                    <a:pt x="0" y="2635250"/>
                    <a:pt x="0" y="26259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25979"/>
                  </a:lnTo>
                  <a:lnTo>
                    <a:pt x="16891" y="2625979"/>
                  </a:lnTo>
                  <a:lnTo>
                    <a:pt x="16891" y="2609088"/>
                  </a:lnTo>
                  <a:lnTo>
                    <a:pt x="187579" y="2609088"/>
                  </a:lnTo>
                  <a:lnTo>
                    <a:pt x="187579" y="2625979"/>
                  </a:lnTo>
                  <a:lnTo>
                    <a:pt x="170688" y="262597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8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1737360"/>
            <a:ext cx="10058400" cy="548640"/>
            <a:chOff x="0" y="0"/>
            <a:chExt cx="134112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411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3A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Scenario 1: Budget-Aware Electronics Shopping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142983" y="1724663"/>
            <a:ext cx="6426203" cy="537467"/>
            <a:chOff x="0" y="0"/>
            <a:chExt cx="8568271" cy="7166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8534400" cy="682752"/>
            </a:xfrm>
            <a:custGeom>
              <a:avLst/>
              <a:gdLst/>
              <a:ahLst/>
              <a:cxnLst/>
              <a:rect r="r" b="b" t="t" l="l"/>
              <a:pathLst>
                <a:path h="68275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1A3A8F">
                <a:alpha val="1961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68182" cy="716536"/>
            </a:xfrm>
            <a:custGeom>
              <a:avLst/>
              <a:gdLst/>
              <a:ahLst/>
              <a:cxnLst/>
              <a:rect r="r" b="b" t="t" l="l"/>
              <a:pathLst>
                <a:path h="716536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699643"/>
                  </a:lnTo>
                  <a:cubicBezTo>
                    <a:pt x="8568182" y="709041"/>
                    <a:pt x="8560562" y="716534"/>
                    <a:pt x="855129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8551291" y="682752"/>
                  </a:lnTo>
                  <a:lnTo>
                    <a:pt x="8551291" y="699643"/>
                  </a:lnTo>
                  <a:lnTo>
                    <a:pt x="8534400" y="699643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8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247120" y="1737360"/>
            <a:ext cx="6217920" cy="512064"/>
            <a:chOff x="0" y="0"/>
            <a:chExt cx="829056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90560" cy="682752"/>
            </a:xfrm>
            <a:custGeom>
              <a:avLst/>
              <a:gdLst/>
              <a:ahLst/>
              <a:cxnLst/>
              <a:rect r="r" b="b" t="t" l="l"/>
              <a:pathLst>
                <a:path h="682752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2905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1A3A8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Query: "wireless earbuds below ₹3k"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2377440"/>
            <a:ext cx="16642080" cy="1060704"/>
            <a:chOff x="0" y="0"/>
            <a:chExt cx="22189440" cy="14142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89439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5713" r="0" b="-25571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218944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Memory extracts category: electronics, budget: ₹3,000. Firecrawl scrapes Amazon &amp; Flipkart. Processor filters with 10% buffer. Gemini recommends top 2-3 earbuds by rating and value.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35943" y="3699767"/>
            <a:ext cx="17216123" cy="1982219"/>
            <a:chOff x="0" y="0"/>
            <a:chExt cx="22954831" cy="26429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22920960" cy="2609088"/>
            </a:xfrm>
            <a:custGeom>
              <a:avLst/>
              <a:gdLst/>
              <a:ahLst/>
              <a:cxnLst/>
              <a:rect r="r" b="b" t="t" l="l"/>
              <a:pathLst>
                <a:path h="2609088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2609088"/>
                  </a:lnTo>
                  <a:lnTo>
                    <a:pt x="0" y="2609088"/>
                  </a:lnTo>
                  <a:close/>
                </a:path>
              </a:pathLst>
            </a:custGeom>
            <a:solidFill>
              <a:srgbClr val="EEF3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954743" cy="2642870"/>
            </a:xfrm>
            <a:custGeom>
              <a:avLst/>
              <a:gdLst/>
              <a:ahLst/>
              <a:cxnLst/>
              <a:rect r="r" b="b" t="t" l="l"/>
              <a:pathLst>
                <a:path h="264287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2625979"/>
                  </a:lnTo>
                  <a:cubicBezTo>
                    <a:pt x="22954743" y="2635377"/>
                    <a:pt x="22947123" y="2642870"/>
                    <a:pt x="22937851" y="2642870"/>
                  </a:cubicBezTo>
                  <a:lnTo>
                    <a:pt x="16891" y="2642870"/>
                  </a:lnTo>
                  <a:cubicBezTo>
                    <a:pt x="7493" y="2642870"/>
                    <a:pt x="0" y="2635250"/>
                    <a:pt x="0" y="26259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25979"/>
                  </a:lnTo>
                  <a:lnTo>
                    <a:pt x="16891" y="2625979"/>
                  </a:lnTo>
                  <a:lnTo>
                    <a:pt x="16891" y="2609088"/>
                  </a:lnTo>
                  <a:lnTo>
                    <a:pt x="22937851" y="2609088"/>
                  </a:lnTo>
                  <a:lnTo>
                    <a:pt x="22937851" y="2625979"/>
                  </a:lnTo>
                  <a:lnTo>
                    <a:pt x="22920961" y="2625979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35943" y="3699767"/>
            <a:ext cx="153419" cy="1982219"/>
            <a:chOff x="0" y="0"/>
            <a:chExt cx="204559" cy="26429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70688" cy="2609088"/>
            </a:xfrm>
            <a:custGeom>
              <a:avLst/>
              <a:gdLst/>
              <a:ahLst/>
              <a:cxnLst/>
              <a:rect r="r" b="b" t="t" l="l"/>
              <a:pathLst>
                <a:path h="260908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609088"/>
                  </a:lnTo>
                  <a:lnTo>
                    <a:pt x="0" y="2609088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4470" cy="2642870"/>
            </a:xfrm>
            <a:custGeom>
              <a:avLst/>
              <a:gdLst/>
              <a:ahLst/>
              <a:cxnLst/>
              <a:rect r="r" b="b" t="t" l="l"/>
              <a:pathLst>
                <a:path h="264287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625979"/>
                  </a:lnTo>
                  <a:cubicBezTo>
                    <a:pt x="204470" y="2635377"/>
                    <a:pt x="196850" y="2642870"/>
                    <a:pt x="187579" y="2642870"/>
                  </a:cubicBezTo>
                  <a:lnTo>
                    <a:pt x="16891" y="2642870"/>
                  </a:lnTo>
                  <a:cubicBezTo>
                    <a:pt x="7493" y="2642870"/>
                    <a:pt x="0" y="2635250"/>
                    <a:pt x="0" y="26259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25979"/>
                  </a:lnTo>
                  <a:lnTo>
                    <a:pt x="16891" y="2625979"/>
                  </a:lnTo>
                  <a:lnTo>
                    <a:pt x="16891" y="2609088"/>
                  </a:lnTo>
                  <a:lnTo>
                    <a:pt x="187579" y="2609088"/>
                  </a:lnTo>
                  <a:lnTo>
                    <a:pt x="187579" y="2625979"/>
                  </a:lnTo>
                  <a:lnTo>
                    <a:pt x="170688" y="262597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4400" y="3840480"/>
            <a:ext cx="10058400" cy="548640"/>
            <a:chOff x="0" y="0"/>
            <a:chExt cx="1341120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3411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Scenario 2: Cross-Category Memory Building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142983" y="3827783"/>
            <a:ext cx="6426203" cy="537467"/>
            <a:chOff x="0" y="0"/>
            <a:chExt cx="8568271" cy="71662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8534400" cy="682752"/>
            </a:xfrm>
            <a:custGeom>
              <a:avLst/>
              <a:gdLst/>
              <a:ahLst/>
              <a:cxnLst/>
              <a:rect r="r" b="b" t="t" l="l"/>
              <a:pathLst>
                <a:path h="68275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28090">
                <a:alpha val="1961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568182" cy="716536"/>
            </a:xfrm>
            <a:custGeom>
              <a:avLst/>
              <a:gdLst/>
              <a:ahLst/>
              <a:cxnLst/>
              <a:rect r="r" b="b" t="t" l="l"/>
              <a:pathLst>
                <a:path h="716536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699643"/>
                  </a:lnTo>
                  <a:cubicBezTo>
                    <a:pt x="8568182" y="709041"/>
                    <a:pt x="8560562" y="716534"/>
                    <a:pt x="855129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8551291" y="682752"/>
                  </a:lnTo>
                  <a:lnTo>
                    <a:pt x="8551291" y="699643"/>
                  </a:lnTo>
                  <a:lnTo>
                    <a:pt x="8534400" y="699643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247120" y="3840480"/>
            <a:ext cx="6217920" cy="512064"/>
            <a:chOff x="0" y="0"/>
            <a:chExt cx="829056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90560" cy="682752"/>
            </a:xfrm>
            <a:custGeom>
              <a:avLst/>
              <a:gdLst/>
              <a:ahLst/>
              <a:cxnLst/>
              <a:rect r="r" b="b" t="t" l="l"/>
              <a:pathLst>
                <a:path h="682752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82905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02809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Query: "running shoes under ₹2k" → "gaming mouse under ₹1.5k"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4400" y="4480560"/>
            <a:ext cx="16642080" cy="1060704"/>
            <a:chOff x="0" y="0"/>
            <a:chExt cx="22189440" cy="14142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189439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5713" r="0" b="-25571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218944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After two queries across categories, system detects budget-sensitive user pattern. Gemini prompt includes full history for context-aware recommendations.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35943" y="5802887"/>
            <a:ext cx="17216123" cy="1982219"/>
            <a:chOff x="0" y="0"/>
            <a:chExt cx="22954831" cy="264295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22920960" cy="2609088"/>
            </a:xfrm>
            <a:custGeom>
              <a:avLst/>
              <a:gdLst/>
              <a:ahLst/>
              <a:cxnLst/>
              <a:rect r="r" b="b" t="t" l="l"/>
              <a:pathLst>
                <a:path h="2609088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2609088"/>
                  </a:lnTo>
                  <a:lnTo>
                    <a:pt x="0" y="2609088"/>
                  </a:lnTo>
                  <a:close/>
                </a:path>
              </a:pathLst>
            </a:custGeom>
            <a:solidFill>
              <a:srgbClr val="EEF3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954743" cy="2642870"/>
            </a:xfrm>
            <a:custGeom>
              <a:avLst/>
              <a:gdLst/>
              <a:ahLst/>
              <a:cxnLst/>
              <a:rect r="r" b="b" t="t" l="l"/>
              <a:pathLst>
                <a:path h="264287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2625979"/>
                  </a:lnTo>
                  <a:cubicBezTo>
                    <a:pt x="22954743" y="2635377"/>
                    <a:pt x="22947123" y="2642870"/>
                    <a:pt x="22937851" y="2642870"/>
                  </a:cubicBezTo>
                  <a:lnTo>
                    <a:pt x="16891" y="2642870"/>
                  </a:lnTo>
                  <a:cubicBezTo>
                    <a:pt x="7493" y="2642870"/>
                    <a:pt x="0" y="2635250"/>
                    <a:pt x="0" y="26259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25979"/>
                  </a:lnTo>
                  <a:lnTo>
                    <a:pt x="16891" y="2625979"/>
                  </a:lnTo>
                  <a:lnTo>
                    <a:pt x="16891" y="2609088"/>
                  </a:lnTo>
                  <a:lnTo>
                    <a:pt x="22937851" y="2609088"/>
                  </a:lnTo>
                  <a:lnTo>
                    <a:pt x="22937851" y="2625979"/>
                  </a:lnTo>
                  <a:lnTo>
                    <a:pt x="22920961" y="2625979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35943" y="5802887"/>
            <a:ext cx="153419" cy="1982219"/>
            <a:chOff x="0" y="0"/>
            <a:chExt cx="204559" cy="264295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70688" cy="2609088"/>
            </a:xfrm>
            <a:custGeom>
              <a:avLst/>
              <a:gdLst/>
              <a:ahLst/>
              <a:cxnLst/>
              <a:rect r="r" b="b" t="t" l="l"/>
              <a:pathLst>
                <a:path h="260908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609088"/>
                  </a:lnTo>
                  <a:lnTo>
                    <a:pt x="0" y="2609088"/>
                  </a:lnTo>
                  <a:close/>
                </a:path>
              </a:pathLst>
            </a:custGeom>
            <a:solidFill>
              <a:srgbClr val="00B894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4470" cy="2642870"/>
            </a:xfrm>
            <a:custGeom>
              <a:avLst/>
              <a:gdLst/>
              <a:ahLst/>
              <a:cxnLst/>
              <a:rect r="r" b="b" t="t" l="l"/>
              <a:pathLst>
                <a:path h="264287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625979"/>
                  </a:lnTo>
                  <a:cubicBezTo>
                    <a:pt x="204470" y="2635377"/>
                    <a:pt x="196850" y="2642870"/>
                    <a:pt x="187579" y="2642870"/>
                  </a:cubicBezTo>
                  <a:lnTo>
                    <a:pt x="16891" y="2642870"/>
                  </a:lnTo>
                  <a:cubicBezTo>
                    <a:pt x="7493" y="2642870"/>
                    <a:pt x="0" y="2635250"/>
                    <a:pt x="0" y="26259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25979"/>
                  </a:lnTo>
                  <a:lnTo>
                    <a:pt x="16891" y="2625979"/>
                  </a:lnTo>
                  <a:lnTo>
                    <a:pt x="16891" y="2609088"/>
                  </a:lnTo>
                  <a:lnTo>
                    <a:pt x="187579" y="2609088"/>
                  </a:lnTo>
                  <a:lnTo>
                    <a:pt x="187579" y="2625979"/>
                  </a:lnTo>
                  <a:lnTo>
                    <a:pt x="170688" y="262597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894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14400" y="5943600"/>
            <a:ext cx="10058400" cy="548640"/>
            <a:chOff x="0" y="0"/>
            <a:chExt cx="1341120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3411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B8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Scenario 3: High-Value Product Discovery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142983" y="5930903"/>
            <a:ext cx="6426203" cy="537467"/>
            <a:chOff x="0" y="0"/>
            <a:chExt cx="8568271" cy="71662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8534400" cy="682752"/>
            </a:xfrm>
            <a:custGeom>
              <a:avLst/>
              <a:gdLst/>
              <a:ahLst/>
              <a:cxnLst/>
              <a:rect r="r" b="b" t="t" l="l"/>
              <a:pathLst>
                <a:path h="68275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B894">
                <a:alpha val="1961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568182" cy="716536"/>
            </a:xfrm>
            <a:custGeom>
              <a:avLst/>
              <a:gdLst/>
              <a:ahLst/>
              <a:cxnLst/>
              <a:rect r="r" b="b" t="t" l="l"/>
              <a:pathLst>
                <a:path h="716536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699643"/>
                  </a:lnTo>
                  <a:cubicBezTo>
                    <a:pt x="8568182" y="709041"/>
                    <a:pt x="8560562" y="716534"/>
                    <a:pt x="855129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8551291" y="682752"/>
                  </a:lnTo>
                  <a:lnTo>
                    <a:pt x="8551291" y="699643"/>
                  </a:lnTo>
                  <a:lnTo>
                    <a:pt x="8534400" y="699643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894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247120" y="5943600"/>
            <a:ext cx="6217920" cy="512064"/>
            <a:chOff x="0" y="0"/>
            <a:chExt cx="829056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290560" cy="682752"/>
            </a:xfrm>
            <a:custGeom>
              <a:avLst/>
              <a:gdLst/>
              <a:ahLst/>
              <a:cxnLst/>
              <a:rect r="r" b="b" t="t" l="l"/>
              <a:pathLst>
                <a:path h="682752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82905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00B89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Query: "best gaming laptop under ₹70,000"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14400" y="6583680"/>
            <a:ext cx="16642080" cy="1060704"/>
            <a:chOff x="0" y="0"/>
            <a:chExt cx="22189440" cy="141427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2189439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5713" r="0" b="-25571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2218944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Crawler scrapes laptop listings. Processor scores using rating + proximity formula. Gemini explains each laptop's strengths relative to the query for informed decisions.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35943" y="7906007"/>
            <a:ext cx="17216123" cy="1982219"/>
            <a:chOff x="0" y="0"/>
            <a:chExt cx="22954831" cy="264295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22920960" cy="2609088"/>
            </a:xfrm>
            <a:custGeom>
              <a:avLst/>
              <a:gdLst/>
              <a:ahLst/>
              <a:cxnLst/>
              <a:rect r="r" b="b" t="t" l="l"/>
              <a:pathLst>
                <a:path h="2609088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2609088"/>
                  </a:lnTo>
                  <a:lnTo>
                    <a:pt x="0" y="2609088"/>
                  </a:lnTo>
                  <a:close/>
                </a:path>
              </a:pathLst>
            </a:custGeom>
            <a:solidFill>
              <a:srgbClr val="EEF3F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954743" cy="2642870"/>
            </a:xfrm>
            <a:custGeom>
              <a:avLst/>
              <a:gdLst/>
              <a:ahLst/>
              <a:cxnLst/>
              <a:rect r="r" b="b" t="t" l="l"/>
              <a:pathLst>
                <a:path h="264287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2625979"/>
                  </a:lnTo>
                  <a:cubicBezTo>
                    <a:pt x="22954743" y="2635377"/>
                    <a:pt x="22947123" y="2642870"/>
                    <a:pt x="22937851" y="2642870"/>
                  </a:cubicBezTo>
                  <a:lnTo>
                    <a:pt x="16891" y="2642870"/>
                  </a:lnTo>
                  <a:cubicBezTo>
                    <a:pt x="7493" y="2642870"/>
                    <a:pt x="0" y="2635250"/>
                    <a:pt x="0" y="26259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25979"/>
                  </a:lnTo>
                  <a:lnTo>
                    <a:pt x="16891" y="2625979"/>
                  </a:lnTo>
                  <a:lnTo>
                    <a:pt x="16891" y="2609088"/>
                  </a:lnTo>
                  <a:lnTo>
                    <a:pt x="22937851" y="2609088"/>
                  </a:lnTo>
                  <a:lnTo>
                    <a:pt x="22937851" y="2625979"/>
                  </a:lnTo>
                  <a:lnTo>
                    <a:pt x="22920961" y="2625979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535943" y="7906007"/>
            <a:ext cx="153419" cy="1982219"/>
            <a:chOff x="0" y="0"/>
            <a:chExt cx="204559" cy="264295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70688" cy="2609088"/>
            </a:xfrm>
            <a:custGeom>
              <a:avLst/>
              <a:gdLst/>
              <a:ahLst/>
              <a:cxnLst/>
              <a:rect r="r" b="b" t="t" l="l"/>
              <a:pathLst>
                <a:path h="260908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609088"/>
                  </a:lnTo>
                  <a:lnTo>
                    <a:pt x="0" y="2609088"/>
                  </a:lnTo>
                  <a:close/>
                </a:path>
              </a:pathLst>
            </a:custGeom>
            <a:solidFill>
              <a:srgbClr val="D63031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4470" cy="2642870"/>
            </a:xfrm>
            <a:custGeom>
              <a:avLst/>
              <a:gdLst/>
              <a:ahLst/>
              <a:cxnLst/>
              <a:rect r="r" b="b" t="t" l="l"/>
              <a:pathLst>
                <a:path h="264287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625979"/>
                  </a:lnTo>
                  <a:cubicBezTo>
                    <a:pt x="204470" y="2635377"/>
                    <a:pt x="196850" y="2642870"/>
                    <a:pt x="187579" y="2642870"/>
                  </a:cubicBezTo>
                  <a:lnTo>
                    <a:pt x="16891" y="2642870"/>
                  </a:lnTo>
                  <a:cubicBezTo>
                    <a:pt x="7493" y="2642870"/>
                    <a:pt x="0" y="2635250"/>
                    <a:pt x="0" y="26259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25979"/>
                  </a:lnTo>
                  <a:lnTo>
                    <a:pt x="16891" y="2625979"/>
                  </a:lnTo>
                  <a:lnTo>
                    <a:pt x="16891" y="2609088"/>
                  </a:lnTo>
                  <a:lnTo>
                    <a:pt x="187579" y="2609088"/>
                  </a:lnTo>
                  <a:lnTo>
                    <a:pt x="187579" y="2625979"/>
                  </a:lnTo>
                  <a:lnTo>
                    <a:pt x="170688" y="262597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63031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14400" y="8046720"/>
            <a:ext cx="10058400" cy="548640"/>
            <a:chOff x="0" y="0"/>
            <a:chExt cx="1341120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3411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6303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Scenario 4: Fallback Resilience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1142983" y="8034023"/>
            <a:ext cx="6426203" cy="537467"/>
            <a:chOff x="0" y="0"/>
            <a:chExt cx="8568271" cy="71662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8534400" cy="682752"/>
            </a:xfrm>
            <a:custGeom>
              <a:avLst/>
              <a:gdLst/>
              <a:ahLst/>
              <a:cxnLst/>
              <a:rect r="r" b="b" t="t" l="l"/>
              <a:pathLst>
                <a:path h="68275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D63031">
                <a:alpha val="1961"/>
              </a:srgbClr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568182" cy="716536"/>
            </a:xfrm>
            <a:custGeom>
              <a:avLst/>
              <a:gdLst/>
              <a:ahLst/>
              <a:cxnLst/>
              <a:rect r="r" b="b" t="t" l="l"/>
              <a:pathLst>
                <a:path h="716536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699643"/>
                  </a:lnTo>
                  <a:cubicBezTo>
                    <a:pt x="8568182" y="709041"/>
                    <a:pt x="8560562" y="716534"/>
                    <a:pt x="855129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8551291" y="682752"/>
                  </a:lnTo>
                  <a:lnTo>
                    <a:pt x="8551291" y="699643"/>
                  </a:lnTo>
                  <a:lnTo>
                    <a:pt x="8534400" y="699643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63031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1247120" y="8046720"/>
            <a:ext cx="6217920" cy="512064"/>
            <a:chOff x="0" y="0"/>
            <a:chExt cx="8290560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290560" cy="682752"/>
            </a:xfrm>
            <a:custGeom>
              <a:avLst/>
              <a:gdLst/>
              <a:ahLst/>
              <a:cxnLst/>
              <a:rect r="r" b="b" t="t" l="l"/>
              <a:pathLst>
                <a:path h="682752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82905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D6303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Query: "kitchen blender"  (during Gemini outage)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14400" y="8686800"/>
            <a:ext cx="16642080" cy="1060704"/>
            <a:chOff x="0" y="0"/>
            <a:chExt cx="22189440" cy="141427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2189439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5713" r="0" b="-25571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218944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LLM call fails gracefully. Fallback builder activates automatically, formatting top 3 ranked products from processor output. Zero downtime — user never sees an error.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7B73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7B73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1371600"/>
            <a:chOff x="0" y="0"/>
            <a:chExt cx="219456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19456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1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Project Structure &amp; Key Source Files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22960" y="1616964"/>
            <a:ext cx="10058400" cy="826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shop/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app.py              — FastAPI entry point, CORS, route registration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requirements.txt    — All pinned dependencies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.env / .env.example — API keys (GEMINI + FIRECRAWL)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routes/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recommend.py      — API endpoints: /recommend, /memory/*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services/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memory.py         — Memento memory service (JSON file store)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crawler.py        — Firecrawl scraping + deduplication + cache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processor.py      — Budget filter + scoring formula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llm.py            — Gemini 2.5 Flash prompt + inference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static/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index.html        — Single-page web app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script.js         — Fetch API calls &amp; recommendation render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styles.css        — Responsive UI styling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data/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users.json        — Persistent user memory profiles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325863" y="1633223"/>
            <a:ext cx="6426203" cy="2311403"/>
            <a:chOff x="0" y="0"/>
            <a:chExt cx="8568271" cy="30818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85344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6203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68182" cy="3081782"/>
            </a:xfrm>
            <a:custGeom>
              <a:avLst/>
              <a:gdLst/>
              <a:ahLst/>
              <a:cxnLst/>
              <a:rect r="r" b="b" t="t" l="l"/>
              <a:pathLst>
                <a:path h="3081782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3064891"/>
                  </a:lnTo>
                  <a:cubicBezTo>
                    <a:pt x="8568182" y="3074289"/>
                    <a:pt x="8560562" y="3081782"/>
                    <a:pt x="8551291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8551291" y="3048000"/>
                  </a:lnTo>
                  <a:lnTo>
                    <a:pt x="8551291" y="3064891"/>
                  </a:lnTo>
                  <a:lnTo>
                    <a:pt x="8534400" y="3064891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7B73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338560" y="1737360"/>
            <a:ext cx="6400800" cy="585216"/>
            <a:chOff x="0" y="0"/>
            <a:chExt cx="8534400" cy="7802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34400" cy="780288"/>
            </a:xfrm>
            <a:custGeom>
              <a:avLst/>
              <a:gdLst/>
              <a:ahLst/>
              <a:cxnLst/>
              <a:rect r="r" b="b" t="t" l="l"/>
              <a:pathLst>
                <a:path h="78028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117" r="0" b="-16311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5344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7B73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Scoring Formula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30000" y="2377440"/>
            <a:ext cx="6217920" cy="1280160"/>
            <a:chOff x="0" y="0"/>
            <a:chExt cx="8290560" cy="1706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2905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29056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Score = (Rating × 2.0)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+ Budget Proximity Bonus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338560" y="4206240"/>
            <a:ext cx="6400800" cy="640080"/>
            <a:chOff x="0" y="0"/>
            <a:chExt cx="8534400" cy="85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3440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5344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ECDC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Endpoints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325863" y="4961639"/>
            <a:ext cx="6426203" cy="939803"/>
            <a:chOff x="0" y="0"/>
            <a:chExt cx="8568271" cy="125307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8534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8284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5681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236091"/>
                  </a:lnTo>
                  <a:cubicBezTo>
                    <a:pt x="8568182" y="1245489"/>
                    <a:pt x="8560562" y="1252982"/>
                    <a:pt x="855129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8551291" y="1219200"/>
                  </a:lnTo>
                  <a:lnTo>
                    <a:pt x="8551291" y="1236091"/>
                  </a:lnTo>
                  <a:lnTo>
                    <a:pt x="8534400" y="1236091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325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484864" y="5102352"/>
            <a:ext cx="4572000" cy="640080"/>
            <a:chOff x="0" y="0"/>
            <a:chExt cx="6096000" cy="853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96000" cy="853440"/>
            </a:xfrm>
            <a:custGeom>
              <a:avLst/>
              <a:gdLst/>
              <a:ahLst/>
              <a:cxnLst/>
              <a:rect r="r" b="b" t="t" l="l"/>
              <a:pathLst>
                <a:path h="8534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0960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ECDC4"/>
                  </a:solidFill>
                  <a:latin typeface="Consolas"/>
                  <a:ea typeface="Consolas"/>
                  <a:cs typeface="Consolas"/>
                  <a:sym typeface="Consolas"/>
                </a:rPr>
                <a:t>POST /api/recommend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056864" y="5102352"/>
            <a:ext cx="1554480" cy="640080"/>
            <a:chOff x="0" y="0"/>
            <a:chExt cx="2072640" cy="8534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72640" cy="853440"/>
            </a:xfrm>
            <a:custGeom>
              <a:avLst/>
              <a:gdLst/>
              <a:ahLst/>
              <a:cxnLst/>
              <a:rect r="r" b="b" t="t" l="l"/>
              <a:pathLst>
                <a:path h="8534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30" t="0" r="-283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0726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7B73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2-5s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325863" y="6022343"/>
            <a:ext cx="6426203" cy="939803"/>
            <a:chOff x="0" y="0"/>
            <a:chExt cx="8568271" cy="125307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8534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11C2E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5681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236091"/>
                  </a:lnTo>
                  <a:cubicBezTo>
                    <a:pt x="8568182" y="1245489"/>
                    <a:pt x="8560562" y="1252982"/>
                    <a:pt x="855129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8551291" y="1219200"/>
                  </a:lnTo>
                  <a:lnTo>
                    <a:pt x="8551291" y="1236091"/>
                  </a:lnTo>
                  <a:lnTo>
                    <a:pt x="8534400" y="1236091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325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484864" y="6163056"/>
            <a:ext cx="4572000" cy="640080"/>
            <a:chOff x="0" y="0"/>
            <a:chExt cx="609600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096000" cy="853440"/>
            </a:xfrm>
            <a:custGeom>
              <a:avLst/>
              <a:gdLst/>
              <a:ahLst/>
              <a:cxnLst/>
              <a:rect r="r" b="b" t="t" l="l"/>
              <a:pathLst>
                <a:path h="8534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60960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ECDC4"/>
                  </a:solidFill>
                  <a:latin typeface="Consolas"/>
                  <a:ea typeface="Consolas"/>
                  <a:cs typeface="Consolas"/>
                  <a:sym typeface="Consolas"/>
                </a:rPr>
                <a:t>GET /api/memory/{id}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6056864" y="6163056"/>
            <a:ext cx="1554480" cy="640080"/>
            <a:chOff x="0" y="0"/>
            <a:chExt cx="2072640" cy="853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72640" cy="853440"/>
            </a:xfrm>
            <a:custGeom>
              <a:avLst/>
              <a:gdLst/>
              <a:ahLst/>
              <a:cxnLst/>
              <a:rect r="r" b="b" t="t" l="l"/>
              <a:pathLst>
                <a:path h="8534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30" t="0" r="-283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0726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7B73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 50ms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325863" y="7083047"/>
            <a:ext cx="6426203" cy="939803"/>
            <a:chOff x="0" y="0"/>
            <a:chExt cx="8568271" cy="125307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8534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8284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681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236091"/>
                  </a:lnTo>
                  <a:cubicBezTo>
                    <a:pt x="8568182" y="1245489"/>
                    <a:pt x="8560562" y="1252982"/>
                    <a:pt x="855129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8551291" y="1219200"/>
                  </a:lnTo>
                  <a:lnTo>
                    <a:pt x="8551291" y="1236091"/>
                  </a:lnTo>
                  <a:lnTo>
                    <a:pt x="8534400" y="1236091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3252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484864" y="7223760"/>
            <a:ext cx="4572000" cy="640080"/>
            <a:chOff x="0" y="0"/>
            <a:chExt cx="6096000" cy="853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96000" cy="853440"/>
            </a:xfrm>
            <a:custGeom>
              <a:avLst/>
              <a:gdLst/>
              <a:ahLst/>
              <a:cxnLst/>
              <a:rect r="r" b="b" t="t" l="l"/>
              <a:pathLst>
                <a:path h="8534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60960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ECDC4"/>
                  </a:solidFill>
                  <a:latin typeface="Consolas"/>
                  <a:ea typeface="Consolas"/>
                  <a:cs typeface="Consolas"/>
                  <a:sym typeface="Consolas"/>
                </a:rPr>
                <a:t>POST /api/memory/update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056864" y="7223760"/>
            <a:ext cx="1554480" cy="640080"/>
            <a:chOff x="0" y="0"/>
            <a:chExt cx="2072640" cy="8534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72640" cy="853440"/>
            </a:xfrm>
            <a:custGeom>
              <a:avLst/>
              <a:gdLst/>
              <a:ahLst/>
              <a:cxnLst/>
              <a:rect r="r" b="b" t="t" l="l"/>
              <a:pathLst>
                <a:path h="8534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30" t="0" r="-2830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0726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7B73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 50ms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325863" y="8143751"/>
            <a:ext cx="6426203" cy="939803"/>
            <a:chOff x="0" y="0"/>
            <a:chExt cx="8568271" cy="125307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8534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11C2E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5681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236091"/>
                  </a:lnTo>
                  <a:cubicBezTo>
                    <a:pt x="8568182" y="1245489"/>
                    <a:pt x="8560562" y="1252982"/>
                    <a:pt x="855129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8551291" y="1219200"/>
                  </a:lnTo>
                  <a:lnTo>
                    <a:pt x="8551291" y="1236091"/>
                  </a:lnTo>
                  <a:lnTo>
                    <a:pt x="8534400" y="1236091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3252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484864" y="8284464"/>
            <a:ext cx="4572000" cy="640080"/>
            <a:chOff x="0" y="0"/>
            <a:chExt cx="6096000" cy="853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096000" cy="853440"/>
            </a:xfrm>
            <a:custGeom>
              <a:avLst/>
              <a:gdLst/>
              <a:ahLst/>
              <a:cxnLst/>
              <a:rect r="r" b="b" t="t" l="l"/>
              <a:pathLst>
                <a:path h="8534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0960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ECDC4"/>
                  </a:solidFill>
                  <a:latin typeface="Consolas"/>
                  <a:ea typeface="Consolas"/>
                  <a:cs typeface="Consolas"/>
                  <a:sym typeface="Consolas"/>
                </a:rPr>
                <a:t>GET /health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6056864" y="8284464"/>
            <a:ext cx="1554480" cy="640080"/>
            <a:chOff x="0" y="0"/>
            <a:chExt cx="2072640" cy="8534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72640" cy="853440"/>
            </a:xfrm>
            <a:custGeom>
              <a:avLst/>
              <a:gdLst/>
              <a:ahLst/>
              <a:cxnLst/>
              <a:rect r="r" b="b" t="t" l="l"/>
              <a:pathLst>
                <a:path h="8534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30" t="0" r="-2830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20726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7B73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 5ms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0B89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89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1371600"/>
            <a:chOff x="0" y="0"/>
            <a:chExt cx="219456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19456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 |  Results &amp; Performance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7383" y="1596647"/>
            <a:ext cx="3865883" cy="2677163"/>
            <a:chOff x="0" y="0"/>
            <a:chExt cx="5154511" cy="35695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5120640" cy="3535680"/>
            </a:xfrm>
            <a:custGeom>
              <a:avLst/>
              <a:gdLst/>
              <a:ahLst/>
              <a:cxnLst/>
              <a:rect r="r" b="b" t="t" l="l"/>
              <a:pathLst>
                <a:path h="35356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54422" cy="3569462"/>
            </a:xfrm>
            <a:custGeom>
              <a:avLst/>
              <a:gdLst/>
              <a:ahLst/>
              <a:cxnLst/>
              <a:rect r="r" b="b" t="t" l="l"/>
              <a:pathLst>
                <a:path h="356946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3552571"/>
                  </a:lnTo>
                  <a:cubicBezTo>
                    <a:pt x="5154422" y="3561969"/>
                    <a:pt x="5146802" y="3569462"/>
                    <a:pt x="5137531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5137531" y="3535680"/>
                  </a:lnTo>
                  <a:lnTo>
                    <a:pt x="5137531" y="3552571"/>
                  </a:lnTo>
                  <a:lnTo>
                    <a:pt x="5120640" y="355257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A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27383" y="1596647"/>
            <a:ext cx="3865883" cy="135131"/>
            <a:chOff x="0" y="0"/>
            <a:chExt cx="5154511" cy="1801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120640" cy="146304"/>
            </a:xfrm>
            <a:custGeom>
              <a:avLst/>
              <a:gdLst/>
              <a:ahLst/>
              <a:cxnLst/>
              <a:rect r="r" b="b" t="t" l="l"/>
              <a:pathLst>
                <a:path h="14630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A3A8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54422" cy="180088"/>
            </a:xfrm>
            <a:custGeom>
              <a:avLst/>
              <a:gdLst/>
              <a:ahLst/>
              <a:cxnLst/>
              <a:rect r="r" b="b" t="t" l="l"/>
              <a:pathLst>
                <a:path h="180088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63195"/>
                  </a:lnTo>
                  <a:cubicBezTo>
                    <a:pt x="5154422" y="172593"/>
                    <a:pt x="5146802" y="180086"/>
                    <a:pt x="51375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5137531" y="146304"/>
                  </a:lnTo>
                  <a:lnTo>
                    <a:pt x="5137531" y="163195"/>
                  </a:lnTo>
                  <a:lnTo>
                    <a:pt x="5120640" y="163195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8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1737360"/>
            <a:ext cx="3657600" cy="1371600"/>
            <a:chOff x="0" y="0"/>
            <a:chExt cx="4876800" cy="182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76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23825"/>
              <a:ext cx="4876800" cy="195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A3A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2–5s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520" y="3108960"/>
            <a:ext cx="3657600" cy="1005840"/>
            <a:chOff x="0" y="0"/>
            <a:chExt cx="4876800" cy="1341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76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8768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B8D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 Recommendation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B8D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Response Time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888487" y="1596647"/>
            <a:ext cx="3865883" cy="2677163"/>
            <a:chOff x="0" y="0"/>
            <a:chExt cx="5154511" cy="35695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5120640" cy="3535680"/>
            </a:xfrm>
            <a:custGeom>
              <a:avLst/>
              <a:gdLst/>
              <a:ahLst/>
              <a:cxnLst/>
              <a:rect r="r" b="b" t="t" l="l"/>
              <a:pathLst>
                <a:path h="35356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54422" cy="3569462"/>
            </a:xfrm>
            <a:custGeom>
              <a:avLst/>
              <a:gdLst/>
              <a:ahLst/>
              <a:cxnLst/>
              <a:rect r="r" b="b" t="t" l="l"/>
              <a:pathLst>
                <a:path h="356946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3552571"/>
                  </a:lnTo>
                  <a:cubicBezTo>
                    <a:pt x="5154422" y="3561969"/>
                    <a:pt x="5146802" y="3569462"/>
                    <a:pt x="5137531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5137531" y="3535680"/>
                  </a:lnTo>
                  <a:lnTo>
                    <a:pt x="5137531" y="3552571"/>
                  </a:lnTo>
                  <a:lnTo>
                    <a:pt x="5120640" y="355257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A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888487" y="1596647"/>
            <a:ext cx="3865883" cy="135131"/>
            <a:chOff x="0" y="0"/>
            <a:chExt cx="5154511" cy="1801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5120640" cy="146304"/>
            </a:xfrm>
            <a:custGeom>
              <a:avLst/>
              <a:gdLst/>
              <a:ahLst/>
              <a:cxnLst/>
              <a:rect r="r" b="b" t="t" l="l"/>
              <a:pathLst>
                <a:path h="14630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54422" cy="180088"/>
            </a:xfrm>
            <a:custGeom>
              <a:avLst/>
              <a:gdLst/>
              <a:ahLst/>
              <a:cxnLst/>
              <a:rect r="r" b="b" t="t" l="l"/>
              <a:pathLst>
                <a:path h="180088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63195"/>
                  </a:lnTo>
                  <a:cubicBezTo>
                    <a:pt x="5154422" y="172593"/>
                    <a:pt x="5146802" y="180086"/>
                    <a:pt x="51375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5137531" y="146304"/>
                  </a:lnTo>
                  <a:lnTo>
                    <a:pt x="5137531" y="163195"/>
                  </a:lnTo>
                  <a:lnTo>
                    <a:pt x="5120640" y="163195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992624" y="1737360"/>
            <a:ext cx="3657600" cy="1371600"/>
            <a:chOff x="0" y="0"/>
            <a:chExt cx="4876800" cy="182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76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23825"/>
              <a:ext cx="4876800" cy="195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&lt; 50ms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992624" y="3108960"/>
            <a:ext cx="3657600" cy="1005840"/>
            <a:chOff x="0" y="0"/>
            <a:chExt cx="4876800" cy="13411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76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8768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B8D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Memory Read/Write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B8D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Response Time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49591" y="1596647"/>
            <a:ext cx="3865883" cy="2677163"/>
            <a:chOff x="0" y="0"/>
            <a:chExt cx="5154511" cy="356955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5120640" cy="3535680"/>
            </a:xfrm>
            <a:custGeom>
              <a:avLst/>
              <a:gdLst/>
              <a:ahLst/>
              <a:cxnLst/>
              <a:rect r="r" b="b" t="t" l="l"/>
              <a:pathLst>
                <a:path h="35356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54422" cy="3569462"/>
            </a:xfrm>
            <a:custGeom>
              <a:avLst/>
              <a:gdLst/>
              <a:ahLst/>
              <a:cxnLst/>
              <a:rect r="r" b="b" t="t" l="l"/>
              <a:pathLst>
                <a:path h="356946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3552571"/>
                  </a:lnTo>
                  <a:cubicBezTo>
                    <a:pt x="5154422" y="3561969"/>
                    <a:pt x="5146802" y="3569462"/>
                    <a:pt x="5137531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5137531" y="3535680"/>
                  </a:lnTo>
                  <a:lnTo>
                    <a:pt x="5137531" y="3552571"/>
                  </a:lnTo>
                  <a:lnTo>
                    <a:pt x="5120640" y="355257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A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149591" y="1596647"/>
            <a:ext cx="3865883" cy="135131"/>
            <a:chOff x="0" y="0"/>
            <a:chExt cx="5154511" cy="1801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120640" cy="146304"/>
            </a:xfrm>
            <a:custGeom>
              <a:avLst/>
              <a:gdLst/>
              <a:ahLst/>
              <a:cxnLst/>
              <a:rect r="r" b="b" t="t" l="l"/>
              <a:pathLst>
                <a:path h="14630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0B894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54422" cy="180088"/>
            </a:xfrm>
            <a:custGeom>
              <a:avLst/>
              <a:gdLst/>
              <a:ahLst/>
              <a:cxnLst/>
              <a:rect r="r" b="b" t="t" l="l"/>
              <a:pathLst>
                <a:path h="180088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63195"/>
                  </a:lnTo>
                  <a:cubicBezTo>
                    <a:pt x="5154422" y="172593"/>
                    <a:pt x="5146802" y="180086"/>
                    <a:pt x="51375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5137531" y="146304"/>
                  </a:lnTo>
                  <a:lnTo>
                    <a:pt x="5137531" y="163195"/>
                  </a:lnTo>
                  <a:lnTo>
                    <a:pt x="5120640" y="163195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89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253728" y="1737360"/>
            <a:ext cx="3657600" cy="1371600"/>
            <a:chOff x="0" y="0"/>
            <a:chExt cx="4876800" cy="1828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76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23825"/>
              <a:ext cx="4876800" cy="195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0B8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&lt; 5ms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253728" y="3108960"/>
            <a:ext cx="3657600" cy="1005840"/>
            <a:chOff x="0" y="0"/>
            <a:chExt cx="4876800" cy="13411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76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8768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B8D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 Endpoint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B8D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Latency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410695" y="1596647"/>
            <a:ext cx="3865883" cy="2677163"/>
            <a:chOff x="0" y="0"/>
            <a:chExt cx="5154511" cy="35695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5120640" cy="3535680"/>
            </a:xfrm>
            <a:custGeom>
              <a:avLst/>
              <a:gdLst/>
              <a:ahLst/>
              <a:cxnLst/>
              <a:rect r="r" b="b" t="t" l="l"/>
              <a:pathLst>
                <a:path h="35356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54422" cy="3569462"/>
            </a:xfrm>
            <a:custGeom>
              <a:avLst/>
              <a:gdLst/>
              <a:ahLst/>
              <a:cxnLst/>
              <a:rect r="r" b="b" t="t" l="l"/>
              <a:pathLst>
                <a:path h="356946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3552571"/>
                  </a:lnTo>
                  <a:cubicBezTo>
                    <a:pt x="5154422" y="3561969"/>
                    <a:pt x="5146802" y="3569462"/>
                    <a:pt x="5137531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5137531" y="3535680"/>
                  </a:lnTo>
                  <a:lnTo>
                    <a:pt x="5137531" y="3552571"/>
                  </a:lnTo>
                  <a:lnTo>
                    <a:pt x="5120640" y="355257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AF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410695" y="1596647"/>
            <a:ext cx="3865883" cy="135131"/>
            <a:chOff x="0" y="0"/>
            <a:chExt cx="5154511" cy="18017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5120640" cy="146304"/>
            </a:xfrm>
            <a:custGeom>
              <a:avLst/>
              <a:gdLst/>
              <a:ahLst/>
              <a:cxnLst/>
              <a:rect r="r" b="b" t="t" l="l"/>
              <a:pathLst>
                <a:path h="14630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8E44AD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154422" cy="180088"/>
            </a:xfrm>
            <a:custGeom>
              <a:avLst/>
              <a:gdLst/>
              <a:ahLst/>
              <a:cxnLst/>
              <a:rect r="r" b="b" t="t" l="l"/>
              <a:pathLst>
                <a:path h="180088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63195"/>
                  </a:lnTo>
                  <a:cubicBezTo>
                    <a:pt x="5154422" y="172593"/>
                    <a:pt x="5146802" y="180086"/>
                    <a:pt x="51375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5137531" y="146304"/>
                  </a:lnTo>
                  <a:lnTo>
                    <a:pt x="5137531" y="163195"/>
                  </a:lnTo>
                  <a:lnTo>
                    <a:pt x="5120640" y="163195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E44AD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514832" y="1737360"/>
            <a:ext cx="3657600" cy="1371600"/>
            <a:chOff x="0" y="0"/>
            <a:chExt cx="4876800" cy="1828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76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23825"/>
              <a:ext cx="4876800" cy="195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8E44A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514832" y="3108960"/>
            <a:ext cx="3657600" cy="1005840"/>
            <a:chOff x="0" y="0"/>
            <a:chExt cx="4876800" cy="13411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76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8768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B8D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Fallback Success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B8D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Rate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40080" y="4572000"/>
            <a:ext cx="16459200" cy="640080"/>
            <a:chOff x="0" y="0"/>
            <a:chExt cx="2194560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3A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Endpoint Performance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27383" y="5382263"/>
            <a:ext cx="5146043" cy="848363"/>
            <a:chOff x="0" y="0"/>
            <a:chExt cx="6861391" cy="113115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3A8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8613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114171"/>
                  </a:lnTo>
                  <a:cubicBezTo>
                    <a:pt x="6861301" y="1123569"/>
                    <a:pt x="6853682" y="1131062"/>
                    <a:pt x="68444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6844411" y="1097280"/>
                  </a:lnTo>
                  <a:lnTo>
                    <a:pt x="6844411" y="1114171"/>
                  </a:lnTo>
                  <a:lnTo>
                    <a:pt x="6827520" y="111417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86384" y="5504688"/>
            <a:ext cx="4901184" cy="603504"/>
            <a:chOff x="0" y="0"/>
            <a:chExt cx="6534912" cy="80467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534912" cy="804672"/>
            </a:xfrm>
            <a:custGeom>
              <a:avLst/>
              <a:gdLst/>
              <a:ahLst/>
              <a:cxnLst/>
              <a:rect r="r" b="b" t="t" l="l"/>
              <a:pathLst>
                <a:path h="804672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242" r="0" b="-10824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6534912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Endpoint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748023" y="5382263"/>
            <a:ext cx="1854203" cy="848363"/>
            <a:chOff x="0" y="0"/>
            <a:chExt cx="2472271" cy="113115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2438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3A8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472182" cy="1131064"/>
            </a:xfrm>
            <a:custGeom>
              <a:avLst/>
              <a:gdLst/>
              <a:ahLst/>
              <a:cxnLst/>
              <a:rect r="r" b="b" t="t" l="l"/>
              <a:pathLst>
                <a:path h="1131064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1114171"/>
                  </a:lnTo>
                  <a:cubicBezTo>
                    <a:pt x="2472182" y="1123569"/>
                    <a:pt x="2464562" y="1131062"/>
                    <a:pt x="245529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2455291" y="1097280"/>
                  </a:lnTo>
                  <a:lnTo>
                    <a:pt x="2455291" y="1114171"/>
                  </a:lnTo>
                  <a:lnTo>
                    <a:pt x="2438400" y="1114171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907024" y="5504688"/>
            <a:ext cx="1609344" cy="603504"/>
            <a:chOff x="0" y="0"/>
            <a:chExt cx="2145792" cy="80467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45792" cy="804672"/>
            </a:xfrm>
            <a:custGeom>
              <a:avLst/>
              <a:gdLst/>
              <a:ahLst/>
              <a:cxnLst/>
              <a:rect r="r" b="b" t="t" l="l"/>
              <a:pathLst>
                <a:path h="804672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145792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Status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576823" y="5382263"/>
            <a:ext cx="2219963" cy="848363"/>
            <a:chOff x="0" y="0"/>
            <a:chExt cx="2959951" cy="113115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2926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3A8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9598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2959862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1114171"/>
                  </a:lnTo>
                  <a:cubicBezTo>
                    <a:pt x="2959862" y="1123569"/>
                    <a:pt x="2952242" y="1131062"/>
                    <a:pt x="294297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2942971" y="1097280"/>
                  </a:lnTo>
                  <a:lnTo>
                    <a:pt x="2942971" y="1114171"/>
                  </a:lnTo>
                  <a:lnTo>
                    <a:pt x="2926080" y="1114171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7735824" y="5504688"/>
            <a:ext cx="1975104" cy="603504"/>
            <a:chOff x="0" y="0"/>
            <a:chExt cx="2633472" cy="80467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633472" cy="804672"/>
            </a:xfrm>
            <a:custGeom>
              <a:avLst/>
              <a:gdLst/>
              <a:ahLst/>
              <a:cxnLst/>
              <a:rect r="r" b="b" t="t" l="l"/>
              <a:pathLst>
                <a:path h="804672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633472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 Response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771383" y="5382263"/>
            <a:ext cx="7523483" cy="848363"/>
            <a:chOff x="0" y="0"/>
            <a:chExt cx="10031311" cy="113115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9997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3A8F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0312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031222">
                  <a:moveTo>
                    <a:pt x="16891" y="0"/>
                  </a:moveTo>
                  <a:lnTo>
                    <a:pt x="10014331" y="0"/>
                  </a:lnTo>
                  <a:cubicBezTo>
                    <a:pt x="10023729" y="0"/>
                    <a:pt x="10031222" y="7620"/>
                    <a:pt x="10031222" y="16891"/>
                  </a:cubicBezTo>
                  <a:lnTo>
                    <a:pt x="10031222" y="1114171"/>
                  </a:lnTo>
                  <a:cubicBezTo>
                    <a:pt x="10031222" y="1123569"/>
                    <a:pt x="10023602" y="1131062"/>
                    <a:pt x="100143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014331" y="1097280"/>
                  </a:lnTo>
                  <a:lnTo>
                    <a:pt x="10014331" y="1114171"/>
                  </a:lnTo>
                  <a:lnTo>
                    <a:pt x="9997440" y="1114171"/>
                  </a:lnTo>
                  <a:lnTo>
                    <a:pt x="9997440" y="16891"/>
                  </a:lnTo>
                  <a:lnTo>
                    <a:pt x="10014331" y="16891"/>
                  </a:lnTo>
                  <a:lnTo>
                    <a:pt x="10014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930384" y="5504688"/>
            <a:ext cx="7278624" cy="603504"/>
            <a:chOff x="0" y="0"/>
            <a:chExt cx="9704832" cy="80467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704832" cy="804672"/>
            </a:xfrm>
            <a:custGeom>
              <a:avLst/>
              <a:gdLst/>
              <a:ahLst/>
              <a:cxnLst/>
              <a:rect r="r" b="b" t="t" l="l"/>
              <a:pathLst>
                <a:path h="80467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5001" r="0" b="-18500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9704832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Notes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27383" y="6260087"/>
            <a:ext cx="5146043" cy="848363"/>
            <a:chOff x="0" y="0"/>
            <a:chExt cx="6861391" cy="113115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8613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114171"/>
                  </a:lnTo>
                  <a:cubicBezTo>
                    <a:pt x="6861301" y="1123569"/>
                    <a:pt x="6853682" y="1131062"/>
                    <a:pt x="68444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6844411" y="1097280"/>
                  </a:lnTo>
                  <a:lnTo>
                    <a:pt x="6844411" y="1114171"/>
                  </a:lnTo>
                  <a:lnTo>
                    <a:pt x="6827520" y="111417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786384" y="6382512"/>
            <a:ext cx="4901184" cy="603504"/>
            <a:chOff x="0" y="0"/>
            <a:chExt cx="6534912" cy="80467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534912" cy="804672"/>
            </a:xfrm>
            <a:custGeom>
              <a:avLst/>
              <a:gdLst/>
              <a:ahLst/>
              <a:cxnLst/>
              <a:rect r="r" b="b" t="t" l="l"/>
              <a:pathLst>
                <a:path h="804672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242" r="0" b="-108242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534912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/api/recommend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748023" y="6260087"/>
            <a:ext cx="1854203" cy="848363"/>
            <a:chOff x="0" y="0"/>
            <a:chExt cx="2472271" cy="113115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2438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472182" cy="1131064"/>
            </a:xfrm>
            <a:custGeom>
              <a:avLst/>
              <a:gdLst/>
              <a:ahLst/>
              <a:cxnLst/>
              <a:rect r="r" b="b" t="t" l="l"/>
              <a:pathLst>
                <a:path h="1131064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1114171"/>
                  </a:lnTo>
                  <a:cubicBezTo>
                    <a:pt x="2472182" y="1123569"/>
                    <a:pt x="2464562" y="1131062"/>
                    <a:pt x="245529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2455291" y="1097280"/>
                  </a:lnTo>
                  <a:lnTo>
                    <a:pt x="2455291" y="1114171"/>
                  </a:lnTo>
                  <a:lnTo>
                    <a:pt x="2438400" y="1114171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5907024" y="6382512"/>
            <a:ext cx="1609344" cy="603504"/>
            <a:chOff x="0" y="0"/>
            <a:chExt cx="2145792" cy="80467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145792" cy="804672"/>
            </a:xfrm>
            <a:custGeom>
              <a:avLst/>
              <a:gdLst/>
              <a:ahLst/>
              <a:cxnLst/>
              <a:rect r="r" b="b" t="t" l="l"/>
              <a:pathLst>
                <a:path h="804672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145792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200 OK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7576823" y="6260087"/>
            <a:ext cx="2219963" cy="848363"/>
            <a:chOff x="0" y="0"/>
            <a:chExt cx="2959951" cy="113115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2926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9598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2959862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1114171"/>
                  </a:lnTo>
                  <a:cubicBezTo>
                    <a:pt x="2959862" y="1123569"/>
                    <a:pt x="2952242" y="1131062"/>
                    <a:pt x="294297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2942971" y="1097280"/>
                  </a:lnTo>
                  <a:lnTo>
                    <a:pt x="2942971" y="1114171"/>
                  </a:lnTo>
                  <a:lnTo>
                    <a:pt x="2926080" y="1114171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7735824" y="6382512"/>
            <a:ext cx="1975104" cy="603504"/>
            <a:chOff x="0" y="0"/>
            <a:chExt cx="2633472" cy="80467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633472" cy="804672"/>
            </a:xfrm>
            <a:custGeom>
              <a:avLst/>
              <a:gdLst/>
              <a:ahLst/>
              <a:cxnLst/>
              <a:rect r="r" b="b" t="t" l="l"/>
              <a:pathLst>
                <a:path h="804672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2633472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2–5 seconds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771383" y="6260087"/>
            <a:ext cx="7523483" cy="848363"/>
            <a:chOff x="0" y="0"/>
            <a:chExt cx="10031311" cy="113115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9997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0312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031222">
                  <a:moveTo>
                    <a:pt x="16891" y="0"/>
                  </a:moveTo>
                  <a:lnTo>
                    <a:pt x="10014331" y="0"/>
                  </a:lnTo>
                  <a:cubicBezTo>
                    <a:pt x="10023729" y="0"/>
                    <a:pt x="10031222" y="7620"/>
                    <a:pt x="10031222" y="16891"/>
                  </a:cubicBezTo>
                  <a:lnTo>
                    <a:pt x="10031222" y="1114171"/>
                  </a:lnTo>
                  <a:cubicBezTo>
                    <a:pt x="10031222" y="1123569"/>
                    <a:pt x="10023602" y="1131062"/>
                    <a:pt x="100143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014331" y="1097280"/>
                  </a:lnTo>
                  <a:lnTo>
                    <a:pt x="10014331" y="1114171"/>
                  </a:lnTo>
                  <a:lnTo>
                    <a:pt x="9997440" y="1114171"/>
                  </a:lnTo>
                  <a:lnTo>
                    <a:pt x="9997440" y="16891"/>
                  </a:lnTo>
                  <a:lnTo>
                    <a:pt x="10014331" y="16891"/>
                  </a:lnTo>
                  <a:lnTo>
                    <a:pt x="10014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930384" y="6382512"/>
            <a:ext cx="7278624" cy="603504"/>
            <a:chOff x="0" y="0"/>
            <a:chExt cx="9704832" cy="80467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704832" cy="804672"/>
            </a:xfrm>
            <a:custGeom>
              <a:avLst/>
              <a:gdLst/>
              <a:ahLst/>
              <a:cxnLst/>
              <a:rect r="r" b="b" t="t" l="l"/>
              <a:pathLst>
                <a:path h="80467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5001" r="0" b="-18500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9704832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Dominated by Firecrawl + Gemini latency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627383" y="7137911"/>
            <a:ext cx="5146043" cy="848363"/>
            <a:chOff x="0" y="0"/>
            <a:chExt cx="6861391" cy="113115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EEF3FF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8613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114171"/>
                  </a:lnTo>
                  <a:cubicBezTo>
                    <a:pt x="6861301" y="1123569"/>
                    <a:pt x="6853682" y="1131062"/>
                    <a:pt x="68444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6844411" y="1097280"/>
                  </a:lnTo>
                  <a:lnTo>
                    <a:pt x="6844411" y="1114171"/>
                  </a:lnTo>
                  <a:lnTo>
                    <a:pt x="6827520" y="111417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786384" y="7260336"/>
            <a:ext cx="4901184" cy="603504"/>
            <a:chOff x="0" y="0"/>
            <a:chExt cx="6534912" cy="80467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534912" cy="804672"/>
            </a:xfrm>
            <a:custGeom>
              <a:avLst/>
              <a:gdLst/>
              <a:ahLst/>
              <a:cxnLst/>
              <a:rect r="r" b="b" t="t" l="l"/>
              <a:pathLst>
                <a:path h="804672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242" r="0" b="-108242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6534912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/api/memory/{user_id}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748023" y="7137911"/>
            <a:ext cx="1854203" cy="848363"/>
            <a:chOff x="0" y="0"/>
            <a:chExt cx="2472271" cy="113115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2438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EEF3FF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472182" cy="1131064"/>
            </a:xfrm>
            <a:custGeom>
              <a:avLst/>
              <a:gdLst/>
              <a:ahLst/>
              <a:cxnLst/>
              <a:rect r="r" b="b" t="t" l="l"/>
              <a:pathLst>
                <a:path h="1131064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1114171"/>
                  </a:lnTo>
                  <a:cubicBezTo>
                    <a:pt x="2472182" y="1123569"/>
                    <a:pt x="2464562" y="1131062"/>
                    <a:pt x="245529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2455291" y="1097280"/>
                  </a:lnTo>
                  <a:lnTo>
                    <a:pt x="2455291" y="1114171"/>
                  </a:lnTo>
                  <a:lnTo>
                    <a:pt x="2438400" y="1114171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907024" y="7260336"/>
            <a:ext cx="1609344" cy="603504"/>
            <a:chOff x="0" y="0"/>
            <a:chExt cx="2145792" cy="80467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145792" cy="804672"/>
            </a:xfrm>
            <a:custGeom>
              <a:avLst/>
              <a:gdLst/>
              <a:ahLst/>
              <a:cxnLst/>
              <a:rect r="r" b="b" t="t" l="l"/>
              <a:pathLst>
                <a:path h="804672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2145792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200 / 404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7576823" y="7137911"/>
            <a:ext cx="2219963" cy="848363"/>
            <a:chOff x="0" y="0"/>
            <a:chExt cx="2959951" cy="1131151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2926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EEF3FF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9598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2959862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1114171"/>
                  </a:lnTo>
                  <a:cubicBezTo>
                    <a:pt x="2959862" y="1123569"/>
                    <a:pt x="2952242" y="1131062"/>
                    <a:pt x="294297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2942971" y="1097280"/>
                  </a:lnTo>
                  <a:lnTo>
                    <a:pt x="2942971" y="1114171"/>
                  </a:lnTo>
                  <a:lnTo>
                    <a:pt x="2926080" y="1114171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7735824" y="7260336"/>
            <a:ext cx="1975104" cy="603504"/>
            <a:chOff x="0" y="0"/>
            <a:chExt cx="2633472" cy="80467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633472" cy="804672"/>
            </a:xfrm>
            <a:custGeom>
              <a:avLst/>
              <a:gdLst/>
              <a:ahLst/>
              <a:cxnLst/>
              <a:rect r="r" b="b" t="t" l="l"/>
              <a:pathLst>
                <a:path h="804672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2633472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 50 ms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9771383" y="7137911"/>
            <a:ext cx="7523483" cy="848363"/>
            <a:chOff x="0" y="0"/>
            <a:chExt cx="10031311" cy="1131151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6891" y="16891"/>
              <a:ext cx="9997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EEF3FF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00312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031222">
                  <a:moveTo>
                    <a:pt x="16891" y="0"/>
                  </a:moveTo>
                  <a:lnTo>
                    <a:pt x="10014331" y="0"/>
                  </a:lnTo>
                  <a:cubicBezTo>
                    <a:pt x="10023729" y="0"/>
                    <a:pt x="10031222" y="7620"/>
                    <a:pt x="10031222" y="16891"/>
                  </a:cubicBezTo>
                  <a:lnTo>
                    <a:pt x="10031222" y="1114171"/>
                  </a:lnTo>
                  <a:cubicBezTo>
                    <a:pt x="10031222" y="1123569"/>
                    <a:pt x="10023602" y="1131062"/>
                    <a:pt x="100143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014331" y="1097280"/>
                  </a:lnTo>
                  <a:lnTo>
                    <a:pt x="10014331" y="1114171"/>
                  </a:lnTo>
                  <a:lnTo>
                    <a:pt x="9997440" y="1114171"/>
                  </a:lnTo>
                  <a:lnTo>
                    <a:pt x="9997440" y="16891"/>
                  </a:lnTo>
                  <a:lnTo>
                    <a:pt x="10014331" y="16891"/>
                  </a:lnTo>
                  <a:lnTo>
                    <a:pt x="10014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9930384" y="7260336"/>
            <a:ext cx="7278624" cy="603504"/>
            <a:chOff x="0" y="0"/>
            <a:chExt cx="9704832" cy="80467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9704832" cy="804672"/>
            </a:xfrm>
            <a:custGeom>
              <a:avLst/>
              <a:gdLst/>
              <a:ahLst/>
              <a:cxnLst/>
              <a:rect r="r" b="b" t="t" l="l"/>
              <a:pathLst>
                <a:path h="80467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5001" r="0" b="-185001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9704832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 file read; 404 if user unknown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627383" y="8015735"/>
            <a:ext cx="5146043" cy="848363"/>
            <a:chOff x="0" y="0"/>
            <a:chExt cx="6861391" cy="1131151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68613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114171"/>
                  </a:lnTo>
                  <a:cubicBezTo>
                    <a:pt x="6861301" y="1123569"/>
                    <a:pt x="6853682" y="1131062"/>
                    <a:pt x="68444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6844411" y="1097280"/>
                  </a:lnTo>
                  <a:lnTo>
                    <a:pt x="6844411" y="1114171"/>
                  </a:lnTo>
                  <a:lnTo>
                    <a:pt x="6827520" y="111417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786384" y="8138160"/>
            <a:ext cx="4901184" cy="603504"/>
            <a:chOff x="0" y="0"/>
            <a:chExt cx="6534912" cy="804672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6534912" cy="804672"/>
            </a:xfrm>
            <a:custGeom>
              <a:avLst/>
              <a:gdLst/>
              <a:ahLst/>
              <a:cxnLst/>
              <a:rect r="r" b="b" t="t" l="l"/>
              <a:pathLst>
                <a:path h="804672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242" r="0" b="-108242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6534912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/api/memory/update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5748023" y="8015735"/>
            <a:ext cx="1854203" cy="848363"/>
            <a:chOff x="0" y="0"/>
            <a:chExt cx="2472271" cy="1131151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16891" y="16891"/>
              <a:ext cx="2438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472182" cy="1131064"/>
            </a:xfrm>
            <a:custGeom>
              <a:avLst/>
              <a:gdLst/>
              <a:ahLst/>
              <a:cxnLst/>
              <a:rect r="r" b="b" t="t" l="l"/>
              <a:pathLst>
                <a:path h="1131064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1114171"/>
                  </a:lnTo>
                  <a:cubicBezTo>
                    <a:pt x="2472182" y="1123569"/>
                    <a:pt x="2464562" y="1131062"/>
                    <a:pt x="245529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2455291" y="1097280"/>
                  </a:lnTo>
                  <a:lnTo>
                    <a:pt x="2455291" y="1114171"/>
                  </a:lnTo>
                  <a:lnTo>
                    <a:pt x="2438400" y="1114171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5907024" y="8138160"/>
            <a:ext cx="1609344" cy="603504"/>
            <a:chOff x="0" y="0"/>
            <a:chExt cx="2145792" cy="80467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145792" cy="804672"/>
            </a:xfrm>
            <a:custGeom>
              <a:avLst/>
              <a:gdLst/>
              <a:ahLst/>
              <a:cxnLst/>
              <a:rect r="r" b="b" t="t" l="l"/>
              <a:pathLst>
                <a:path h="804672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2145792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200 OK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7576823" y="8015735"/>
            <a:ext cx="2219963" cy="848363"/>
            <a:chOff x="0" y="0"/>
            <a:chExt cx="2959951" cy="1131151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6891" y="16891"/>
              <a:ext cx="2926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9598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2959862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1114171"/>
                  </a:lnTo>
                  <a:cubicBezTo>
                    <a:pt x="2959862" y="1123569"/>
                    <a:pt x="2952242" y="1131062"/>
                    <a:pt x="294297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2942971" y="1097280"/>
                  </a:lnTo>
                  <a:lnTo>
                    <a:pt x="2942971" y="1114171"/>
                  </a:lnTo>
                  <a:lnTo>
                    <a:pt x="2926080" y="1114171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7735824" y="8138160"/>
            <a:ext cx="1975104" cy="603504"/>
            <a:chOff x="0" y="0"/>
            <a:chExt cx="2633472" cy="804672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2633472" cy="804672"/>
            </a:xfrm>
            <a:custGeom>
              <a:avLst/>
              <a:gdLst/>
              <a:ahLst/>
              <a:cxnLst/>
              <a:rect r="r" b="b" t="t" l="l"/>
              <a:pathLst>
                <a:path h="804672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2633472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 50 ms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9771383" y="8015735"/>
            <a:ext cx="7523483" cy="848363"/>
            <a:chOff x="0" y="0"/>
            <a:chExt cx="10031311" cy="1131151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9997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00312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031222">
                  <a:moveTo>
                    <a:pt x="16891" y="0"/>
                  </a:moveTo>
                  <a:lnTo>
                    <a:pt x="10014331" y="0"/>
                  </a:lnTo>
                  <a:cubicBezTo>
                    <a:pt x="10023729" y="0"/>
                    <a:pt x="10031222" y="7620"/>
                    <a:pt x="10031222" y="16891"/>
                  </a:cubicBezTo>
                  <a:lnTo>
                    <a:pt x="10031222" y="1114171"/>
                  </a:lnTo>
                  <a:cubicBezTo>
                    <a:pt x="10031222" y="1123569"/>
                    <a:pt x="10023602" y="1131062"/>
                    <a:pt x="100143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014331" y="1097280"/>
                  </a:lnTo>
                  <a:lnTo>
                    <a:pt x="10014331" y="1114171"/>
                  </a:lnTo>
                  <a:lnTo>
                    <a:pt x="9997440" y="1114171"/>
                  </a:lnTo>
                  <a:lnTo>
                    <a:pt x="9997440" y="16891"/>
                  </a:lnTo>
                  <a:lnTo>
                    <a:pt x="10014331" y="16891"/>
                  </a:lnTo>
                  <a:lnTo>
                    <a:pt x="10014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930384" y="8138160"/>
            <a:ext cx="7278624" cy="603504"/>
            <a:chOff x="0" y="0"/>
            <a:chExt cx="9704832" cy="804672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9704832" cy="804672"/>
            </a:xfrm>
            <a:custGeom>
              <a:avLst/>
              <a:gdLst/>
              <a:ahLst/>
              <a:cxnLst/>
              <a:rect r="r" b="b" t="t" l="l"/>
              <a:pathLst>
                <a:path h="80467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5001" r="0" b="-185001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9704832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Instant file write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627383" y="8893559"/>
            <a:ext cx="5146043" cy="848363"/>
            <a:chOff x="0" y="0"/>
            <a:chExt cx="6861391" cy="1131151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16891" y="16891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EEF3FF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68613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114171"/>
                  </a:lnTo>
                  <a:cubicBezTo>
                    <a:pt x="6861301" y="1123569"/>
                    <a:pt x="6853682" y="1131062"/>
                    <a:pt x="68444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6844411" y="1097280"/>
                  </a:lnTo>
                  <a:lnTo>
                    <a:pt x="6844411" y="1114171"/>
                  </a:lnTo>
                  <a:lnTo>
                    <a:pt x="6827520" y="111417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786384" y="9015984"/>
            <a:ext cx="4901184" cy="603504"/>
            <a:chOff x="0" y="0"/>
            <a:chExt cx="6534912" cy="804672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534912" cy="804672"/>
            </a:xfrm>
            <a:custGeom>
              <a:avLst/>
              <a:gdLst/>
              <a:ahLst/>
              <a:cxnLst/>
              <a:rect r="r" b="b" t="t" l="l"/>
              <a:pathLst>
                <a:path h="804672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242" r="0" b="-108242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6534912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/health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5748023" y="8893559"/>
            <a:ext cx="1854203" cy="848363"/>
            <a:chOff x="0" y="0"/>
            <a:chExt cx="2472271" cy="1131151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2438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EEF3FF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2472182" cy="1131064"/>
            </a:xfrm>
            <a:custGeom>
              <a:avLst/>
              <a:gdLst/>
              <a:ahLst/>
              <a:cxnLst/>
              <a:rect r="r" b="b" t="t" l="l"/>
              <a:pathLst>
                <a:path h="1131064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1114171"/>
                  </a:lnTo>
                  <a:cubicBezTo>
                    <a:pt x="2472182" y="1123569"/>
                    <a:pt x="2464562" y="1131062"/>
                    <a:pt x="245529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2455291" y="1097280"/>
                  </a:lnTo>
                  <a:lnTo>
                    <a:pt x="2455291" y="1114171"/>
                  </a:lnTo>
                  <a:lnTo>
                    <a:pt x="2438400" y="1114171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5907024" y="9015984"/>
            <a:ext cx="1609344" cy="603504"/>
            <a:chOff x="0" y="0"/>
            <a:chExt cx="2145792" cy="804672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2145792" cy="804672"/>
            </a:xfrm>
            <a:custGeom>
              <a:avLst/>
              <a:gdLst/>
              <a:ahLst/>
              <a:cxnLst/>
              <a:rect r="r" b="b" t="t" l="l"/>
              <a:pathLst>
                <a:path h="804672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2145792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200 OK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7576823" y="8893559"/>
            <a:ext cx="2219963" cy="848363"/>
            <a:chOff x="0" y="0"/>
            <a:chExt cx="2959951" cy="1131151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16891" y="16891"/>
              <a:ext cx="2926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EEF3FF"/>
            </a:solidFill>
          </p:spPr>
        </p:sp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29598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2959862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1114171"/>
                  </a:lnTo>
                  <a:cubicBezTo>
                    <a:pt x="2959862" y="1123569"/>
                    <a:pt x="2952242" y="1131062"/>
                    <a:pt x="294297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2942971" y="1097280"/>
                  </a:lnTo>
                  <a:lnTo>
                    <a:pt x="2942971" y="1114171"/>
                  </a:lnTo>
                  <a:lnTo>
                    <a:pt x="2926080" y="1114171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7735824" y="9015984"/>
            <a:ext cx="1975104" cy="603504"/>
            <a:chOff x="0" y="0"/>
            <a:chExt cx="2633472" cy="804672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2633472" cy="804672"/>
            </a:xfrm>
            <a:custGeom>
              <a:avLst/>
              <a:gdLst/>
              <a:ahLst/>
              <a:cxnLst/>
              <a:rect r="r" b="b" t="t" l="l"/>
              <a:pathLst>
                <a:path h="804672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2633472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 5 ms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9771383" y="8893559"/>
            <a:ext cx="7523483" cy="848363"/>
            <a:chOff x="0" y="0"/>
            <a:chExt cx="10031311" cy="1131151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16891" y="16891"/>
              <a:ext cx="9997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EEF3FF"/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100312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031222">
                  <a:moveTo>
                    <a:pt x="16891" y="0"/>
                  </a:moveTo>
                  <a:lnTo>
                    <a:pt x="10014331" y="0"/>
                  </a:lnTo>
                  <a:cubicBezTo>
                    <a:pt x="10023729" y="0"/>
                    <a:pt x="10031222" y="7620"/>
                    <a:pt x="10031222" y="16891"/>
                  </a:cubicBezTo>
                  <a:lnTo>
                    <a:pt x="10031222" y="1114171"/>
                  </a:lnTo>
                  <a:cubicBezTo>
                    <a:pt x="10031222" y="1123569"/>
                    <a:pt x="10023602" y="1131062"/>
                    <a:pt x="100143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014331" y="1097280"/>
                  </a:lnTo>
                  <a:lnTo>
                    <a:pt x="10014331" y="1114171"/>
                  </a:lnTo>
                  <a:lnTo>
                    <a:pt x="9997440" y="1114171"/>
                  </a:lnTo>
                  <a:lnTo>
                    <a:pt x="9997440" y="16891"/>
                  </a:lnTo>
                  <a:lnTo>
                    <a:pt x="10014331" y="16891"/>
                  </a:lnTo>
                  <a:lnTo>
                    <a:pt x="10014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EF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9930384" y="9015984"/>
            <a:ext cx="7278624" cy="603504"/>
            <a:chOff x="0" y="0"/>
            <a:chExt cx="9704832" cy="804672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9704832" cy="804672"/>
            </a:xfrm>
            <a:custGeom>
              <a:avLst/>
              <a:gdLst/>
              <a:ahLst/>
              <a:cxnLst/>
              <a:rect r="r" b="b" t="t" l="l"/>
              <a:pathLst>
                <a:path h="80467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5001" r="0" b="-185001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9704832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F1B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Liveness check only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640080" y="9692640"/>
            <a:ext cx="17007840" cy="457200"/>
            <a:chOff x="0" y="0"/>
            <a:chExt cx="22677120" cy="60960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22677120" cy="609600"/>
            </a:xfrm>
            <a:custGeom>
              <a:avLst/>
              <a:gdLst/>
              <a:ahLst/>
              <a:cxnLst/>
              <a:rect r="r" b="b" t="t" l="l"/>
              <a:pathLst>
                <a:path h="60960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4843" r="0" b="-674843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38100"/>
              <a:ext cx="226771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7B8DB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In-memory cache eliminates repeated Firecrawl calls within a session, significantly reducing latency on cache hits.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7B73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7B73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1371600"/>
            <a:chOff x="0" y="0"/>
            <a:chExt cx="219456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19456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1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  |  Advantages &amp; Limitations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5943" y="1541783"/>
            <a:ext cx="8346443" cy="793499"/>
            <a:chOff x="0" y="0"/>
            <a:chExt cx="11128591" cy="10579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1094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0B89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28501" cy="1057912"/>
            </a:xfrm>
            <a:custGeom>
              <a:avLst/>
              <a:gdLst/>
              <a:ahLst/>
              <a:cxnLst/>
              <a:rect r="r" b="b" t="t" l="l"/>
              <a:pathLst>
                <a:path h="105791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041019"/>
                  </a:lnTo>
                  <a:cubicBezTo>
                    <a:pt x="11128501" y="1050417"/>
                    <a:pt x="11120882" y="1057910"/>
                    <a:pt x="111116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1111611" y="1024128"/>
                  </a:lnTo>
                  <a:lnTo>
                    <a:pt x="11111611" y="1041019"/>
                  </a:lnTo>
                  <a:lnTo>
                    <a:pt x="11094720" y="104101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89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59536" y="1591056"/>
            <a:ext cx="8229600" cy="694944"/>
            <a:chOff x="0" y="0"/>
            <a:chExt cx="10972800" cy="9265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743" r="0" b="-18074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9728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Advantages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90807" y="2602487"/>
            <a:ext cx="537467" cy="537467"/>
            <a:chOff x="0" y="0"/>
            <a:chExt cx="716623" cy="7166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0B894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00B89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03504" y="2615184"/>
            <a:ext cx="512064" cy="512064"/>
            <a:chOff x="0" y="0"/>
            <a:chExt cx="682752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80160" y="2596896"/>
            <a:ext cx="7498080" cy="457200"/>
            <a:chOff x="0" y="0"/>
            <a:chExt cx="9997440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97440" cy="609600"/>
            </a:xfrm>
            <a:custGeom>
              <a:avLst/>
              <a:gdLst/>
              <a:ahLst/>
              <a:cxnLst/>
              <a:rect r="r" b="b" t="t" l="l"/>
              <a:pathLst>
                <a:path h="6096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554" r="0" b="-26955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99744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0B8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Product Data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80160" y="3072384"/>
            <a:ext cx="7498080" cy="768096"/>
            <a:chOff x="0" y="0"/>
            <a:chExt cx="9997440" cy="10241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997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Scrapes live listings on every query — always reflects current prices &amp; availability.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90807" y="4102103"/>
            <a:ext cx="537467" cy="537467"/>
            <a:chOff x="0" y="0"/>
            <a:chExt cx="716623" cy="71662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0B894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00B89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03504" y="4114800"/>
            <a:ext cx="512064" cy="512064"/>
            <a:chOff x="0" y="0"/>
            <a:chExt cx="682752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80160" y="4096512"/>
            <a:ext cx="7498080" cy="457200"/>
            <a:chOff x="0" y="0"/>
            <a:chExt cx="9997440" cy="609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997440" cy="609600"/>
            </a:xfrm>
            <a:custGeom>
              <a:avLst/>
              <a:gdLst/>
              <a:ahLst/>
              <a:cxnLst/>
              <a:rect r="r" b="b" t="t" l="l"/>
              <a:pathLst>
                <a:path h="6096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554" r="0" b="-26955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99744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0B8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Zero-Database Personalisation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80160" y="4572000"/>
            <a:ext cx="7498080" cy="768096"/>
            <a:chOff x="0" y="0"/>
            <a:chExt cx="9997440" cy="10241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997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Memento engine delivers cross-session personalisation with just a JSON file.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90807" y="5601719"/>
            <a:ext cx="537467" cy="537467"/>
            <a:chOff x="0" y="0"/>
            <a:chExt cx="716623" cy="71662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0B894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00B894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03504" y="5614416"/>
            <a:ext cx="512064" cy="512064"/>
            <a:chOff x="0" y="0"/>
            <a:chExt cx="682752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80160" y="5596128"/>
            <a:ext cx="7498080" cy="457200"/>
            <a:chOff x="0" y="0"/>
            <a:chExt cx="9997440" cy="609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997440" cy="609600"/>
            </a:xfrm>
            <a:custGeom>
              <a:avLst/>
              <a:gdLst/>
              <a:ahLst/>
              <a:cxnLst/>
              <a:rect r="r" b="b" t="t" l="l"/>
              <a:pathLst>
                <a:path h="6096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554" r="0" b="-26955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99744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0B8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LLM-Powered Natural Language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80160" y="6071616"/>
            <a:ext cx="7498080" cy="768096"/>
            <a:chOff x="0" y="0"/>
            <a:chExt cx="9997440" cy="102412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997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Gemini explains why each product was selected — context raw lists can't offer.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32965" y="7129786"/>
            <a:ext cx="537467" cy="537467"/>
            <a:chOff x="0" y="0"/>
            <a:chExt cx="716623" cy="71662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0B894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00B894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58368" y="7129786"/>
            <a:ext cx="512064" cy="512064"/>
            <a:chOff x="0" y="0"/>
            <a:chExt cx="682752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80160" y="7184650"/>
            <a:ext cx="7498080" cy="457200"/>
            <a:chOff x="0" y="0"/>
            <a:chExt cx="9997440" cy="609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997440" cy="609600"/>
            </a:xfrm>
            <a:custGeom>
              <a:avLst/>
              <a:gdLst/>
              <a:ahLst/>
              <a:cxnLst/>
              <a:rect r="r" b="b" t="t" l="l"/>
              <a:pathLst>
                <a:path h="6096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554" r="0" b="-26955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999744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0B8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Minimal Deployment Footprint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80160" y="7552944"/>
            <a:ext cx="7498080" cy="768096"/>
            <a:chOff x="0" y="0"/>
            <a:chExt cx="9997440" cy="102412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9997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Single Python process, deployable with 2 env vars and 1 start command.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405623" y="1541783"/>
            <a:ext cx="8346443" cy="793499"/>
            <a:chOff x="0" y="0"/>
            <a:chExt cx="11128591" cy="105799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1094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D63031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128501" cy="1057912"/>
            </a:xfrm>
            <a:custGeom>
              <a:avLst/>
              <a:gdLst/>
              <a:ahLst/>
              <a:cxnLst/>
              <a:rect r="r" b="b" t="t" l="l"/>
              <a:pathLst>
                <a:path h="105791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041019"/>
                  </a:lnTo>
                  <a:cubicBezTo>
                    <a:pt x="11128501" y="1050417"/>
                    <a:pt x="11120882" y="1057910"/>
                    <a:pt x="111116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1111611" y="1024128"/>
                  </a:lnTo>
                  <a:lnTo>
                    <a:pt x="11111611" y="1041019"/>
                  </a:lnTo>
                  <a:lnTo>
                    <a:pt x="11094720" y="104101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63031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729216" y="1591056"/>
            <a:ext cx="8229600" cy="694944"/>
            <a:chOff x="0" y="0"/>
            <a:chExt cx="10972800" cy="9265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972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743" r="0" b="-18074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09728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460487" y="2602487"/>
            <a:ext cx="537467" cy="537467"/>
            <a:chOff x="0" y="0"/>
            <a:chExt cx="716623" cy="71662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D63031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D63031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473184" y="2615184"/>
            <a:ext cx="512064" cy="512064"/>
            <a:chOff x="0" y="0"/>
            <a:chExt cx="682752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149840" y="2596896"/>
            <a:ext cx="7498080" cy="457200"/>
            <a:chOff x="0" y="0"/>
            <a:chExt cx="9997440" cy="6096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997440" cy="609600"/>
            </a:xfrm>
            <a:custGeom>
              <a:avLst/>
              <a:gdLst/>
              <a:ahLst/>
              <a:cxnLst/>
              <a:rect r="r" b="b" t="t" l="l"/>
              <a:pathLst>
                <a:path h="6096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554" r="0" b="-26955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999744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D6303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External API Dependency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149840" y="3072384"/>
            <a:ext cx="7498080" cy="768096"/>
            <a:chOff x="0" y="0"/>
            <a:chExt cx="9997440" cy="102412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9997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function requires two paid APIs; outages or rate limits affect availability.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460487" y="4102103"/>
            <a:ext cx="537467" cy="537467"/>
            <a:chOff x="0" y="0"/>
            <a:chExt cx="716623" cy="71662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D63031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D63031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473184" y="4114800"/>
            <a:ext cx="512064" cy="512064"/>
            <a:chOff x="0" y="0"/>
            <a:chExt cx="682752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149840" y="4096512"/>
            <a:ext cx="7498080" cy="457200"/>
            <a:chOff x="0" y="0"/>
            <a:chExt cx="9997440" cy="6096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997440" cy="609600"/>
            </a:xfrm>
            <a:custGeom>
              <a:avLst/>
              <a:gdLst/>
              <a:ahLst/>
              <a:cxnLst/>
              <a:rect r="r" b="b" t="t" l="l"/>
              <a:pathLst>
                <a:path h="6096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554" r="0" b="-26955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999744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D6303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Limited Platform Coverage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149840" y="4572000"/>
            <a:ext cx="7498080" cy="768096"/>
            <a:chOff x="0" y="0"/>
            <a:chExt cx="9997440" cy="102412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9997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Currently targets Amazon &amp; Flipkart only. Meesho/Myntra need additional parsers.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460487" y="5601719"/>
            <a:ext cx="537467" cy="537467"/>
            <a:chOff x="0" y="0"/>
            <a:chExt cx="716623" cy="716623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D63031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D63031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9473184" y="5614416"/>
            <a:ext cx="512064" cy="512064"/>
            <a:chOff x="0" y="0"/>
            <a:chExt cx="682752" cy="68275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0149840" y="5596128"/>
            <a:ext cx="7498080" cy="457200"/>
            <a:chOff x="0" y="0"/>
            <a:chExt cx="9997440" cy="6096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997440" cy="609600"/>
            </a:xfrm>
            <a:custGeom>
              <a:avLst/>
              <a:gdLst/>
              <a:ahLst/>
              <a:cxnLst/>
              <a:rect r="r" b="b" t="t" l="l"/>
              <a:pathLst>
                <a:path h="6096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554" r="0" b="-269554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999744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D6303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File-Based Storage Concurrency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149840" y="6071616"/>
            <a:ext cx="7498080" cy="768096"/>
            <a:chOff x="0" y="0"/>
            <a:chExt cx="9997440" cy="102412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9997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JSON store lacks locking — unsuitable for concurrent writes at scale.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460487" y="7101335"/>
            <a:ext cx="537467" cy="537467"/>
            <a:chOff x="0" y="0"/>
            <a:chExt cx="716623" cy="716623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D63031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D63031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473184" y="7114032"/>
            <a:ext cx="512064" cy="512064"/>
            <a:chOff x="0" y="0"/>
            <a:chExt cx="682752" cy="68275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0149840" y="7184650"/>
            <a:ext cx="7498080" cy="457200"/>
            <a:chOff x="0" y="0"/>
            <a:chExt cx="9997440" cy="6096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997440" cy="609600"/>
            </a:xfrm>
            <a:custGeom>
              <a:avLst/>
              <a:gdLst/>
              <a:ahLst/>
              <a:cxnLst/>
              <a:rect r="r" b="b" t="t" l="l"/>
              <a:pathLst>
                <a:path h="6096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554" r="0" b="-269554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999744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D6303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Session-Level Cache Only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0149840" y="7571232"/>
            <a:ext cx="7498080" cy="768096"/>
            <a:chOff x="0" y="0"/>
            <a:chExt cx="9997440" cy="102412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9997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Scrape cache is lost on server restart, triggering fresh API calls.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1371600"/>
            <a:chOff x="0" y="0"/>
            <a:chExt cx="219456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19456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  |  Future Enhancements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7383" y="1633223"/>
            <a:ext cx="8255003" cy="3865883"/>
            <a:chOff x="0" y="0"/>
            <a:chExt cx="11006671" cy="51545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9728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06582" cy="5154422"/>
            </a:xfrm>
            <a:custGeom>
              <a:avLst/>
              <a:gdLst/>
              <a:ahLst/>
              <a:cxnLst/>
              <a:rect r="r" b="b" t="t" l="l"/>
              <a:pathLst>
                <a:path h="51544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5137531"/>
                  </a:lnTo>
                  <a:cubicBezTo>
                    <a:pt x="11006582" y="5146929"/>
                    <a:pt x="10998962" y="5154422"/>
                    <a:pt x="1098969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0989691" y="5120640"/>
                  </a:lnTo>
                  <a:lnTo>
                    <a:pt x="10989691" y="5137531"/>
                  </a:lnTo>
                  <a:lnTo>
                    <a:pt x="10972800" y="51375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A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27383" y="1633223"/>
            <a:ext cx="8255003" cy="848363"/>
            <a:chOff x="0" y="0"/>
            <a:chExt cx="11006671" cy="1131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972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3A8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658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114171"/>
                  </a:lnTo>
                  <a:cubicBezTo>
                    <a:pt x="11006582" y="1123569"/>
                    <a:pt x="10998962" y="1131062"/>
                    <a:pt x="1098969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989691" y="1097280"/>
                  </a:lnTo>
                  <a:lnTo>
                    <a:pt x="10989691" y="1114171"/>
                  </a:lnTo>
                  <a:lnTo>
                    <a:pt x="10972800" y="111417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8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1755648"/>
            <a:ext cx="7680960" cy="621792"/>
            <a:chOff x="0" y="0"/>
            <a:chExt cx="10241280" cy="8290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0241280" cy="886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Scalability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2596896"/>
            <a:ext cx="7772400" cy="2779776"/>
            <a:chOff x="0" y="0"/>
            <a:chExt cx="10363200" cy="37063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63200" cy="3706368"/>
            </a:xfrm>
            <a:custGeom>
              <a:avLst/>
              <a:gdLst/>
              <a:ahLst/>
              <a:cxnLst/>
              <a:rect r="r" b="b" t="t" l="l"/>
              <a:pathLst>
                <a:path h="370636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3706368"/>
                  </a:lnTo>
                  <a:lnTo>
                    <a:pt x="0" y="3706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81" r="0" b="-448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363200" cy="3753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Redis / PostgreSQL for concurrent-safe storage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Redis-backed TTL cache for scraped products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Horizontal scaling via externalized state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05623" y="1633223"/>
            <a:ext cx="8255003" cy="3865883"/>
            <a:chOff x="0" y="0"/>
            <a:chExt cx="11006671" cy="51545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09728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06582" cy="5154422"/>
            </a:xfrm>
            <a:custGeom>
              <a:avLst/>
              <a:gdLst/>
              <a:ahLst/>
              <a:cxnLst/>
              <a:rect r="r" b="b" t="t" l="l"/>
              <a:pathLst>
                <a:path h="51544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5137531"/>
                  </a:lnTo>
                  <a:cubicBezTo>
                    <a:pt x="11006582" y="5146929"/>
                    <a:pt x="10998962" y="5154422"/>
                    <a:pt x="1098969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0989691" y="5120640"/>
                  </a:lnTo>
                  <a:lnTo>
                    <a:pt x="10989691" y="5137531"/>
                  </a:lnTo>
                  <a:lnTo>
                    <a:pt x="10972800" y="51375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A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405623" y="1633223"/>
            <a:ext cx="8255003" cy="848363"/>
            <a:chOff x="0" y="0"/>
            <a:chExt cx="11006671" cy="11311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0972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0658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114171"/>
                  </a:lnTo>
                  <a:cubicBezTo>
                    <a:pt x="11006582" y="1123569"/>
                    <a:pt x="10998962" y="1131062"/>
                    <a:pt x="1098969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989691" y="1097280"/>
                  </a:lnTo>
                  <a:lnTo>
                    <a:pt x="10989691" y="1114171"/>
                  </a:lnTo>
                  <a:lnTo>
                    <a:pt x="10972800" y="111417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92640" y="1755648"/>
            <a:ext cx="7680960" cy="621792"/>
            <a:chOff x="0" y="0"/>
            <a:chExt cx="10241280" cy="8290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0241280" cy="886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Expansion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92640" y="2596896"/>
            <a:ext cx="7772400" cy="2779776"/>
            <a:chOff x="0" y="0"/>
            <a:chExt cx="10363200" cy="37063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363200" cy="3706368"/>
            </a:xfrm>
            <a:custGeom>
              <a:avLst/>
              <a:gdLst/>
              <a:ahLst/>
              <a:cxnLst/>
              <a:rect r="r" b="b" t="t" l="l"/>
              <a:pathLst>
                <a:path h="370636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3706368"/>
                  </a:lnTo>
                  <a:lnTo>
                    <a:pt x="0" y="3706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81" r="0" b="-448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0363200" cy="3753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Meesho, Myntra &amp; more platform support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Multi-turn conversational refinement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 comparison mode (side-by-side)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Price history tracking &amp; deal detection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27383" y="5802887"/>
            <a:ext cx="8255003" cy="3865883"/>
            <a:chOff x="0" y="0"/>
            <a:chExt cx="11006671" cy="51545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09728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006582" cy="5154422"/>
            </a:xfrm>
            <a:custGeom>
              <a:avLst/>
              <a:gdLst/>
              <a:ahLst/>
              <a:cxnLst/>
              <a:rect r="r" b="b" t="t" l="l"/>
              <a:pathLst>
                <a:path h="51544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5137531"/>
                  </a:lnTo>
                  <a:cubicBezTo>
                    <a:pt x="11006582" y="5146929"/>
                    <a:pt x="10998962" y="5154422"/>
                    <a:pt x="1098969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0989691" y="5120640"/>
                  </a:lnTo>
                  <a:lnTo>
                    <a:pt x="10989691" y="5137531"/>
                  </a:lnTo>
                  <a:lnTo>
                    <a:pt x="10972800" y="51375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A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27383" y="5802887"/>
            <a:ext cx="8255003" cy="848363"/>
            <a:chOff x="0" y="0"/>
            <a:chExt cx="11006671" cy="11311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0972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8E44AD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0658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114171"/>
                  </a:lnTo>
                  <a:cubicBezTo>
                    <a:pt x="11006582" y="1123569"/>
                    <a:pt x="10998962" y="1131062"/>
                    <a:pt x="1098969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989691" y="1097280"/>
                  </a:lnTo>
                  <a:lnTo>
                    <a:pt x="10989691" y="1114171"/>
                  </a:lnTo>
                  <a:lnTo>
                    <a:pt x="10972800" y="111417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E44A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14400" y="5925312"/>
            <a:ext cx="7680960" cy="621792"/>
            <a:chOff x="0" y="0"/>
            <a:chExt cx="10241280" cy="8290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0241280" cy="886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&amp; Personalisation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4400" y="6766560"/>
            <a:ext cx="7772400" cy="2779776"/>
            <a:chOff x="0" y="0"/>
            <a:chExt cx="10363200" cy="37063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363200" cy="3706368"/>
            </a:xfrm>
            <a:custGeom>
              <a:avLst/>
              <a:gdLst/>
              <a:ahLst/>
              <a:cxnLst/>
              <a:rect r="r" b="b" t="t" l="l"/>
              <a:pathLst>
                <a:path h="370636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3706368"/>
                  </a:lnTo>
                  <a:lnTo>
                    <a:pt x="0" y="3706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81" r="0" b="-448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0363200" cy="3753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JSON-structured Gemini output for richer UI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Collaborative filtering across user profiles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Sentiment-aware scoring from feedback signals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405623" y="5802887"/>
            <a:ext cx="8255003" cy="3865883"/>
            <a:chOff x="0" y="0"/>
            <a:chExt cx="11006671" cy="51545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09728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006582" cy="5154422"/>
            </a:xfrm>
            <a:custGeom>
              <a:avLst/>
              <a:gdLst/>
              <a:ahLst/>
              <a:cxnLst/>
              <a:rect r="r" b="b" t="t" l="l"/>
              <a:pathLst>
                <a:path h="51544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5137531"/>
                  </a:lnTo>
                  <a:cubicBezTo>
                    <a:pt x="11006582" y="5146929"/>
                    <a:pt x="10998962" y="5154422"/>
                    <a:pt x="1098969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0989691" y="5120640"/>
                  </a:lnTo>
                  <a:lnTo>
                    <a:pt x="10989691" y="5137531"/>
                  </a:lnTo>
                  <a:lnTo>
                    <a:pt x="10972800" y="51375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AF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405623" y="5802887"/>
            <a:ext cx="8255003" cy="848363"/>
            <a:chOff x="0" y="0"/>
            <a:chExt cx="11006671" cy="113115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0972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D63031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00658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114171"/>
                  </a:lnTo>
                  <a:cubicBezTo>
                    <a:pt x="11006582" y="1123569"/>
                    <a:pt x="10998962" y="1131062"/>
                    <a:pt x="1098969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989691" y="1097280"/>
                  </a:lnTo>
                  <a:lnTo>
                    <a:pt x="10989691" y="1114171"/>
                  </a:lnTo>
                  <a:lnTo>
                    <a:pt x="10972800" y="111417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63031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692640" y="5925312"/>
            <a:ext cx="7680960" cy="621792"/>
            <a:chOff x="0" y="0"/>
            <a:chExt cx="10241280" cy="8290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10241280" cy="886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 &amp; Mobile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92640" y="6766560"/>
            <a:ext cx="7772400" cy="2779776"/>
            <a:chOff x="0" y="0"/>
            <a:chExt cx="10363200" cy="370636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363200" cy="3706368"/>
            </a:xfrm>
            <a:custGeom>
              <a:avLst/>
              <a:gdLst/>
              <a:ahLst/>
              <a:cxnLst/>
              <a:rect r="r" b="b" t="t" l="l"/>
              <a:pathLst>
                <a:path h="370636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3706368"/>
                  </a:lnTo>
                  <a:lnTo>
                    <a:pt x="0" y="3706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81" r="0" b="-448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0363200" cy="3753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JWT-based user authentication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API rate limiting per user_id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Native / Flutter mobile app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3A4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Voice query via Web Speech API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ECDC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154663" y="-561337"/>
            <a:ext cx="7340603" cy="7340603"/>
            <a:chOff x="0" y="0"/>
            <a:chExt cx="9787471" cy="97874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97536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1A2D4E">
                <a:alpha val="48627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87509" cy="9787382"/>
            </a:xfrm>
            <a:custGeom>
              <a:avLst/>
              <a:gdLst/>
              <a:ahLst/>
              <a:cxnLst/>
              <a:rect r="r" b="b" t="t" l="l"/>
              <a:pathLst>
                <a:path h="9787382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lnTo>
                    <a:pt x="4893691" y="16891"/>
                  </a:lnTo>
                  <a:lnTo>
                    <a:pt x="4893691" y="0"/>
                  </a:lnTo>
                  <a:cubicBezTo>
                    <a:pt x="7596505" y="0"/>
                    <a:pt x="9787509" y="2191004"/>
                    <a:pt x="9787509" y="4893691"/>
                  </a:cubicBezTo>
                  <a:lnTo>
                    <a:pt x="9770618" y="4893691"/>
                  </a:lnTo>
                  <a:lnTo>
                    <a:pt x="9787509" y="4893691"/>
                  </a:lnTo>
                  <a:cubicBezTo>
                    <a:pt x="9787509" y="7596378"/>
                    <a:pt x="7596505" y="9787382"/>
                    <a:pt x="4893818" y="9787382"/>
                  </a:cubicBezTo>
                  <a:lnTo>
                    <a:pt x="4893818" y="9770490"/>
                  </a:lnTo>
                  <a:lnTo>
                    <a:pt x="4893818" y="9787382"/>
                  </a:lnTo>
                  <a:cubicBezTo>
                    <a:pt x="2191004" y="9787509"/>
                    <a:pt x="0" y="7596505"/>
                    <a:pt x="0" y="4893691"/>
                  </a:cubicBezTo>
                  <a:lnTo>
                    <a:pt x="16891" y="48936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0" y="4893691"/>
                  </a:lnTo>
                  <a:moveTo>
                    <a:pt x="33909" y="4893691"/>
                  </a:moveTo>
                  <a:cubicBezTo>
                    <a:pt x="33909" y="4903089"/>
                    <a:pt x="26289" y="4910582"/>
                    <a:pt x="17018" y="4910582"/>
                  </a:cubicBezTo>
                  <a:cubicBezTo>
                    <a:pt x="7747" y="4910582"/>
                    <a:pt x="0" y="4903089"/>
                    <a:pt x="0" y="4893691"/>
                  </a:cubicBezTo>
                  <a:cubicBezTo>
                    <a:pt x="0" y="4884293"/>
                    <a:pt x="7620" y="4876800"/>
                    <a:pt x="16891" y="4876800"/>
                  </a:cubicBezTo>
                  <a:cubicBezTo>
                    <a:pt x="26162" y="4876800"/>
                    <a:pt x="33782" y="4884420"/>
                    <a:pt x="33782" y="4893691"/>
                  </a:cubicBezTo>
                  <a:cubicBezTo>
                    <a:pt x="33909" y="7577709"/>
                    <a:pt x="2209673" y="9753600"/>
                    <a:pt x="4893691" y="9753600"/>
                  </a:cubicBezTo>
                  <a:cubicBezTo>
                    <a:pt x="7577709" y="9753600"/>
                    <a:pt x="9753600" y="7577709"/>
                    <a:pt x="9753600" y="4893691"/>
                  </a:cubicBezTo>
                  <a:cubicBezTo>
                    <a:pt x="9753600" y="2209673"/>
                    <a:pt x="7577709" y="33909"/>
                    <a:pt x="4893691" y="33909"/>
                  </a:cubicBezTo>
                  <a:lnTo>
                    <a:pt x="4893691" y="16891"/>
                  </a:lnTo>
                  <a:lnTo>
                    <a:pt x="4893691" y="33909"/>
                  </a:lnTo>
                  <a:cubicBezTo>
                    <a:pt x="2209673" y="33909"/>
                    <a:pt x="33909" y="2209673"/>
                    <a:pt x="33909" y="4893691"/>
                  </a:cubicBezTo>
                  <a:close/>
                </a:path>
              </a:pathLst>
            </a:custGeom>
            <a:solidFill>
              <a:srgbClr val="1A2D4E">
                <a:alpha val="48627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548640"/>
            <a:ext cx="10972800" cy="914400"/>
            <a:chOff x="0" y="0"/>
            <a:chExt cx="14630400" cy="121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6304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4ECDC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  |  Conclusion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463040"/>
            <a:ext cx="12801600" cy="1554480"/>
            <a:chOff x="0" y="0"/>
            <a:chExt cx="17068800" cy="2072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465" r="0" b="-11046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71450"/>
              <a:ext cx="17068800" cy="2244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ShopMate AI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3017520"/>
            <a:ext cx="12801600" cy="822960"/>
            <a:chOff x="0" y="0"/>
            <a:chExt cx="1706880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7068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4ECD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Production-Ready Intelligent Retail Recommendation Engine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1703" y="4102103"/>
            <a:ext cx="1854203" cy="116843"/>
            <a:chOff x="0" y="0"/>
            <a:chExt cx="2472271" cy="1557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438400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7B73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72182" cy="155704"/>
            </a:xfrm>
            <a:custGeom>
              <a:avLst/>
              <a:gdLst/>
              <a:ahLst/>
              <a:cxnLst/>
              <a:rect r="r" b="b" t="t" l="l"/>
              <a:pathLst>
                <a:path h="155704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138811"/>
                  </a:lnTo>
                  <a:cubicBezTo>
                    <a:pt x="2472182" y="148209"/>
                    <a:pt x="2464562" y="155702"/>
                    <a:pt x="24552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2455291" y="121920"/>
                  </a:lnTo>
                  <a:lnTo>
                    <a:pt x="2455291" y="138811"/>
                  </a:lnTo>
                  <a:lnTo>
                    <a:pt x="2438400" y="138811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7B73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4425696"/>
            <a:ext cx="11887200" cy="2651760"/>
            <a:chOff x="0" y="0"/>
            <a:chExt cx="15849600" cy="3535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84960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3535680"/>
                  </a:lnTo>
                  <a:lnTo>
                    <a:pt x="0" y="3535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46" r="0" b="-3734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5849600" cy="3573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9BB8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ShopMate AI demonstrates how a sophisticated personalized recommendation system can be built with a small, well-designed codebase. By combining Firecrawl real-time scraping with Google Gemini language understanding and a lightweight Memento memory engine, the system delivers relevant, up-to-date recommendations tailored to each user's budget and preferences — without ML training, database servers, or complex infrastructure.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6894576"/>
            <a:ext cx="11887200" cy="2560320"/>
            <a:chOff x="0" y="0"/>
            <a:chExt cx="15849600" cy="34137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8496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5849600" cy="3461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Modular architecture — each component independently testable &amp; replaceable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Robust fallback guarantees users always receive recommendations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Strong potential to evolve into a production-grade service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Reference architecture for AI-augmented e-commerce applications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1703" y="9405623"/>
            <a:ext cx="9535163" cy="610619"/>
            <a:chOff x="0" y="0"/>
            <a:chExt cx="12713551" cy="8141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2679681" cy="780288"/>
            </a:xfrm>
            <a:custGeom>
              <a:avLst/>
              <a:gdLst/>
              <a:ahLst/>
              <a:cxnLst/>
              <a:rect r="r" b="b" t="t" l="l"/>
              <a:pathLst>
                <a:path h="780288" w="12679681">
                  <a:moveTo>
                    <a:pt x="0" y="0"/>
                  </a:moveTo>
                  <a:lnTo>
                    <a:pt x="12679681" y="0"/>
                  </a:lnTo>
                  <a:lnTo>
                    <a:pt x="12679681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A2D4E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713463" cy="814072"/>
            </a:xfrm>
            <a:custGeom>
              <a:avLst/>
              <a:gdLst/>
              <a:ahLst/>
              <a:cxnLst/>
              <a:rect r="r" b="b" t="t" l="l"/>
              <a:pathLst>
                <a:path h="814072" w="12713463">
                  <a:moveTo>
                    <a:pt x="16891" y="0"/>
                  </a:moveTo>
                  <a:lnTo>
                    <a:pt x="12696572" y="0"/>
                  </a:lnTo>
                  <a:cubicBezTo>
                    <a:pt x="12705969" y="0"/>
                    <a:pt x="12713463" y="7620"/>
                    <a:pt x="12713463" y="16891"/>
                  </a:cubicBezTo>
                  <a:lnTo>
                    <a:pt x="12713463" y="797179"/>
                  </a:lnTo>
                  <a:cubicBezTo>
                    <a:pt x="12713463" y="806577"/>
                    <a:pt x="12705842" y="814070"/>
                    <a:pt x="12696572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2696572" y="780288"/>
                  </a:lnTo>
                  <a:lnTo>
                    <a:pt x="12696572" y="797179"/>
                  </a:lnTo>
                  <a:lnTo>
                    <a:pt x="12679680" y="797179"/>
                  </a:lnTo>
                  <a:lnTo>
                    <a:pt x="12679680" y="16891"/>
                  </a:lnTo>
                  <a:lnTo>
                    <a:pt x="12696572" y="16891"/>
                  </a:lnTo>
                  <a:lnTo>
                    <a:pt x="12696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ECDC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05840" y="9454896"/>
            <a:ext cx="9326880" cy="512064"/>
            <a:chOff x="0" y="0"/>
            <a:chExt cx="1243584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435840" cy="682752"/>
            </a:xfrm>
            <a:custGeom>
              <a:avLst/>
              <a:gdLst/>
              <a:ahLst/>
              <a:cxnLst/>
              <a:rect r="r" b="b" t="t" l="l"/>
              <a:pathLst>
                <a:path h="682752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4906" r="0" b="-30490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2435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ECD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GitHub: github.com/Eswar0207/ai-recoomended-system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-12697" y="10091423"/>
            <a:ext cx="18313403" cy="208283"/>
            <a:chOff x="0" y="0"/>
            <a:chExt cx="24417871" cy="2777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DAHIzmuj4_I</dc:identifier>
  <dcterms:modified xsi:type="dcterms:W3CDTF">2011-08-01T06:04:30Z</dcterms:modified>
  <cp:revision>1</cp:revision>
</cp:coreProperties>
</file>